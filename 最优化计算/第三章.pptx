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471" r:id="rId2"/>
    <p:sldId id="257" r:id="rId3"/>
    <p:sldId id="258" r:id="rId4"/>
    <p:sldId id="330" r:id="rId5"/>
    <p:sldId id="472" r:id="rId6"/>
    <p:sldId id="260" r:id="rId7"/>
    <p:sldId id="336" r:id="rId8"/>
    <p:sldId id="337" r:id="rId9"/>
    <p:sldId id="338" r:id="rId10"/>
    <p:sldId id="473" r:id="rId11"/>
    <p:sldId id="343" r:id="rId12"/>
    <p:sldId id="341" r:id="rId13"/>
    <p:sldId id="263" r:id="rId14"/>
    <p:sldId id="265" r:id="rId15"/>
    <p:sldId id="322" r:id="rId16"/>
    <p:sldId id="323" r:id="rId17"/>
    <p:sldId id="324" r:id="rId18"/>
    <p:sldId id="286" r:id="rId19"/>
    <p:sldId id="325" r:id="rId20"/>
    <p:sldId id="469" r:id="rId21"/>
    <p:sldId id="476" r:id="rId22"/>
    <p:sldId id="282" r:id="rId23"/>
    <p:sldId id="326" r:id="rId24"/>
    <p:sldId id="268" r:id="rId25"/>
    <p:sldId id="269" r:id="rId26"/>
    <p:sldId id="270" r:id="rId27"/>
    <p:sldId id="470" r:id="rId28"/>
    <p:sldId id="479" r:id="rId29"/>
    <p:sldId id="481" r:id="rId30"/>
    <p:sldId id="319" r:id="rId31"/>
    <p:sldId id="320" r:id="rId32"/>
    <p:sldId id="339" r:id="rId33"/>
    <p:sldId id="340" r:id="rId34"/>
    <p:sldId id="321" r:id="rId35"/>
    <p:sldId id="333" r:id="rId36"/>
    <p:sldId id="334" r:id="rId37"/>
    <p:sldId id="482" r:id="rId38"/>
    <p:sldId id="335" r:id="rId39"/>
    <p:sldId id="271" r:id="rId40"/>
    <p:sldId id="316" r:id="rId41"/>
    <p:sldId id="477" r:id="rId42"/>
    <p:sldId id="273" r:id="rId43"/>
    <p:sldId id="332" r:id="rId44"/>
    <p:sldId id="274" r:id="rId45"/>
    <p:sldId id="275" r:id="rId46"/>
    <p:sldId id="276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3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6D6-58A8-4AD4-816F-730C82CA4F26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FB50-89D6-4CBA-9896-FC474347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550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6D6-58A8-4AD4-816F-730C82CA4F26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FB50-89D6-4CBA-9896-FC474347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46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6D6-58A8-4AD4-816F-730C82CA4F26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FB50-89D6-4CBA-9896-FC474347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997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6D6-58A8-4AD4-816F-730C82CA4F26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FB50-89D6-4CBA-9896-FC474347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665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6D6-58A8-4AD4-816F-730C82CA4F26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FB50-89D6-4CBA-9896-FC474347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736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6D6-58A8-4AD4-816F-730C82CA4F26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FB50-89D6-4CBA-9896-FC474347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924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6D6-58A8-4AD4-816F-730C82CA4F26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FB50-89D6-4CBA-9896-FC474347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874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6D6-58A8-4AD4-816F-730C82CA4F26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FB50-89D6-4CBA-9896-FC474347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669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6D6-58A8-4AD4-816F-730C82CA4F26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FB50-89D6-4CBA-9896-FC474347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69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6D6-58A8-4AD4-816F-730C82CA4F26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FB50-89D6-4CBA-9896-FC474347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549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6D6-58A8-4AD4-816F-730C82CA4F26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FB50-89D6-4CBA-9896-FC474347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795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238E452-D1C7-423B-8DCF-0E3F790FFEE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20EB79-B7F4-4C78-9CBC-6E6E16A057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C60C1F-6E7F-482B-998E-146F6BC97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0B393C-EE4E-4DAF-8CAF-E988DC662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370BE841-42FC-4A07-BF3F-BC54274A804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3117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4D6D6-58A8-4AD4-816F-730C82CA4F26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3FB50-89D6-4CBA-9896-FC474347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995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6.png"/><Relationship Id="rId5" Type="http://schemas.openxmlformats.org/officeDocument/2006/relationships/image" Target="../media/image7.png"/><Relationship Id="rId10" Type="http://schemas.openxmlformats.org/officeDocument/2006/relationships/image" Target="../media/image150.png"/><Relationship Id="rId4" Type="http://schemas.openxmlformats.org/officeDocument/2006/relationships/image" Target="../media/image6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1.png"/><Relationship Id="rId5" Type="http://schemas.openxmlformats.org/officeDocument/2006/relationships/image" Target="../media/image7.png"/><Relationship Id="rId10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5.png"/><Relationship Id="rId7" Type="http://schemas.openxmlformats.org/officeDocument/2006/relationships/image" Target="../media/image37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5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44.png"/><Relationship Id="rId5" Type="http://schemas.openxmlformats.org/officeDocument/2006/relationships/image" Target="../media/image7.png"/><Relationship Id="rId10" Type="http://schemas.openxmlformats.org/officeDocument/2006/relationships/image" Target="../media/image43.png"/><Relationship Id="rId4" Type="http://schemas.openxmlformats.org/officeDocument/2006/relationships/image" Target="../media/image6.png"/><Relationship Id="rId9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png"/><Relationship Id="rId3" Type="http://schemas.openxmlformats.org/officeDocument/2006/relationships/image" Target="../media/image5.png"/><Relationship Id="rId7" Type="http://schemas.openxmlformats.org/officeDocument/2006/relationships/image" Target="../media/image46.png"/><Relationship Id="rId12" Type="http://schemas.openxmlformats.org/officeDocument/2006/relationships/image" Target="../media/image4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47.png"/><Relationship Id="rId5" Type="http://schemas.openxmlformats.org/officeDocument/2006/relationships/image" Target="../media/image7.png"/><Relationship Id="rId10" Type="http://schemas.openxmlformats.org/officeDocument/2006/relationships/image" Target="../media/image49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5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53.png"/><Relationship Id="rId5" Type="http://schemas.openxmlformats.org/officeDocument/2006/relationships/image" Target="../media/image6.png"/><Relationship Id="rId10" Type="http://schemas.openxmlformats.org/officeDocument/2006/relationships/image" Target="../media/image52.png"/><Relationship Id="rId4" Type="http://schemas.openxmlformats.org/officeDocument/2006/relationships/image" Target="../media/image5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60.png"/><Relationship Id="rId4" Type="http://schemas.openxmlformats.org/officeDocument/2006/relationships/image" Target="../media/image5.png"/><Relationship Id="rId9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3.png"/><Relationship Id="rId7" Type="http://schemas.openxmlformats.org/officeDocument/2006/relationships/image" Target="../media/image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64.png"/><Relationship Id="rId9" Type="http://schemas.openxmlformats.org/officeDocument/2006/relationships/image" Target="../media/image6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3.png"/><Relationship Id="rId4" Type="http://schemas.openxmlformats.org/officeDocument/2006/relationships/image" Target="../media/image72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560C6A1-0D5B-725B-F113-CCBE1DB28FA8}"/>
              </a:ext>
            </a:extLst>
          </p:cNvPr>
          <p:cNvSpPr txBox="1">
            <a:spLocks noChangeArrowheads="1"/>
          </p:cNvSpPr>
          <p:nvPr/>
        </p:nvSpPr>
        <p:spPr>
          <a:xfrm>
            <a:off x="1928673" y="300038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第三章 线性规划的对偶理论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69234E-9BB8-67B3-BCE7-5DF1FD34160B}"/>
              </a:ext>
            </a:extLst>
          </p:cNvPr>
          <p:cNvSpPr txBox="1">
            <a:spLocks noChangeArrowheads="1"/>
          </p:cNvSpPr>
          <p:nvPr/>
        </p:nvSpPr>
        <p:spPr>
          <a:xfrm>
            <a:off x="861880" y="2922820"/>
            <a:ext cx="10468240" cy="37226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endParaRPr lang="en-US" altLang="zh-CN" b="1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latin typeface="宋体" panose="02010600030101010101" pitchFamily="2" charset="-122"/>
              </a:rPr>
              <a:t>对偶理论深刻揭示了原问题与对偶问题之间的内在联系，在线性规划的理论研究和算法设计中起着重要的作用．例如，成功的线性规划原始</a:t>
            </a:r>
            <a:r>
              <a:rPr lang="en-US" altLang="zh-CN" b="1" dirty="0">
                <a:latin typeface="宋体" panose="02010600030101010101" pitchFamily="2" charset="-122"/>
              </a:rPr>
              <a:t>-</a:t>
            </a:r>
            <a:r>
              <a:rPr lang="zh-CN" altLang="en-US" b="1" dirty="0">
                <a:latin typeface="宋体" panose="02010600030101010101" pitchFamily="2" charset="-122"/>
              </a:rPr>
              <a:t>对偶内点算法就是基于互补松弛定理而提出来的．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36CF07-5AA9-1EBC-F52D-8D1708D450E6}"/>
              </a:ext>
            </a:extLst>
          </p:cNvPr>
          <p:cNvSpPr txBox="1"/>
          <p:nvPr/>
        </p:nvSpPr>
        <p:spPr>
          <a:xfrm>
            <a:off x="845840" y="1874838"/>
            <a:ext cx="10340024" cy="94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400" b="1" dirty="0"/>
              <a:t>      </a:t>
            </a:r>
            <a:r>
              <a:rPr lang="zh-CN" altLang="en-US" sz="24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任意线性规划问题都伴随着另一个与之有密切联系的线性规划问题，我们将其中的一个称为原问题，另一个就称为对偶问题．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38524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6B484B8-3598-447B-B3B2-DE3A6B5EED2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296928"/>
            <a:ext cx="7772400" cy="1470025"/>
          </a:xfrm>
        </p:spPr>
        <p:txBody>
          <a:bodyPr anchor="ctr">
            <a:normAutofit/>
          </a:bodyPr>
          <a:lstStyle/>
          <a:p>
            <a:pPr marL="342900" indent="-342900"/>
            <a:r>
              <a:rPr lang="zh-CN" altLang="en-US" sz="4400" b="1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+mn-cs"/>
              </a:rPr>
              <a:t>对偶问题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5655A97-A11B-4BB6-BFC7-C37BDFD01E0A}"/>
              </a:ext>
            </a:extLst>
          </p:cNvPr>
          <p:cNvSpPr txBox="1"/>
          <p:nvPr/>
        </p:nvSpPr>
        <p:spPr>
          <a:xfrm>
            <a:off x="555493" y="389452"/>
            <a:ext cx="5152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一、对偶问题的提出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AD8E2DB-0321-4B88-8592-B17751EE6CF9}"/>
                  </a:ext>
                </a:extLst>
              </p:cNvPr>
              <p:cNvSpPr txBox="1"/>
              <p:nvPr/>
            </p:nvSpPr>
            <p:spPr>
              <a:xfrm>
                <a:off x="4951493" y="3209020"/>
                <a:ext cx="7240507" cy="5007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zh-CN" sz="2400" b="1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解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：设每日生产木门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扇，木窗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扇，建立数学模型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AD8E2DB-0321-4B88-8592-B17751EE6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493" y="3209020"/>
                <a:ext cx="7240507" cy="500715"/>
              </a:xfrm>
              <a:prstGeom prst="rect">
                <a:avLst/>
              </a:prstGeom>
              <a:blipFill>
                <a:blip r:embed="rId2"/>
                <a:stretch>
                  <a:fillRect l="-1224" t="-7317" r="-350" b="-1951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BF811FE-A53C-4215-8414-9AAC4AF2276B}"/>
                  </a:ext>
                </a:extLst>
              </p:cNvPr>
              <p:cNvSpPr txBox="1"/>
              <p:nvPr/>
            </p:nvSpPr>
            <p:spPr>
              <a:xfrm>
                <a:off x="5452029" y="5874843"/>
                <a:ext cx="590843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求得最优解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=15, </m:t>
                    </m:r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=20, </m:t>
                    </m:r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=1440</m:t>
                    </m:r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BF811FE-A53C-4215-8414-9AAC4AF22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029" y="5874843"/>
                <a:ext cx="5908431" cy="461665"/>
              </a:xfrm>
              <a:prstGeom prst="rect">
                <a:avLst/>
              </a:prstGeom>
              <a:blipFill>
                <a:blip r:embed="rId3"/>
                <a:stretch>
                  <a:fillRect l="-1717" t="-16216" b="-2973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4">
            <a:extLst>
              <a:ext uri="{FF2B5EF4-FFF2-40B4-BE49-F238E27FC236}">
                <a16:creationId xmlns:a16="http://schemas.microsoft.com/office/drawing/2014/main" id="{44FA549E-8CC0-4DB9-84F3-6FD3F1D2D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D908791-D08A-4214-983D-CFEBB1A58ACB}"/>
              </a:ext>
            </a:extLst>
          </p:cNvPr>
          <p:cNvSpPr txBox="1"/>
          <p:nvPr/>
        </p:nvSpPr>
        <p:spPr>
          <a:xfrm>
            <a:off x="204188" y="1220607"/>
            <a:ext cx="10839633" cy="1822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9875" indent="267970" algn="just">
              <a:lnSpc>
                <a:spcPct val="120000"/>
              </a:lnSpc>
              <a:tabLst>
                <a:tab pos="269875" algn="l"/>
                <a:tab pos="266700" algn="l"/>
              </a:tabLst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某家具厂木器车间生产木门与木窗两种产品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加工木门收入为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56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元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扇，加工木窗收入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30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元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扇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生产一扇木门需要木工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小时、油漆工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小时；生产一扇木窗需要木工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小时、油漆工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小时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该车间每日可用木工总工时为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120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小时，油漆工总工时为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50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小时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试问车间应如何安排生产才能使每日收入最大？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9C2841-18F2-3DF5-06B3-95847E0086C0}"/>
                  </a:ext>
                </a:extLst>
              </p:cNvPr>
              <p:cNvSpPr txBox="1"/>
              <p:nvPr/>
            </p:nvSpPr>
            <p:spPr>
              <a:xfrm>
                <a:off x="4850342" y="3776459"/>
                <a:ext cx="6114422" cy="1902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m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𝑎𝑥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 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𝑤</m:t>
                      </m:r>
                      <m:r>
                        <a:rPr lang="en-US" sz="24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56</m:t>
                      </m:r>
                      <m:sSub>
                        <m:sSub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+30</m:t>
                      </m:r>
                      <m:sSub>
                        <m:sSub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CN" sz="2400" dirty="0">
                    <a:effectLst/>
                    <a:ea typeface="SimSun" panose="02010600030101010101" pitchFamily="2" charset="-122"/>
                    <a:cs typeface="Times New Roman" panose="02020603050405020304" pitchFamily="18" charset="0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d>
                      <m:dPr>
                        <m:begChr m:val="{"/>
                        <m:endChr m:val="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eqArr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4</m:t>
                            </m:r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+3</m:t>
                            </m:r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≤120</m:t>
                            </m:r>
                          </m:e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≤5</m:t>
                            </m:r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≥0,</m:t>
                            </m:r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≥0</m:t>
                            </m:r>
                          </m:e>
                        </m:eqArr>
                      </m:e>
                    </m:d>
                  </m:oMath>
                </a14:m>
                <a:r>
                  <a:rPr lang="en-CN" sz="2400" dirty="0">
                    <a:effectLst/>
                  </a:rPr>
                  <a:t> </a:t>
                </a:r>
                <a:endParaRPr lang="en-CN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9C2841-18F2-3DF5-06B3-95847E008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0342" y="3776459"/>
                <a:ext cx="6114422" cy="19023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670A6D7D-8B19-9207-DFC1-0D5AD29EB34C}"/>
              </a:ext>
            </a:extLst>
          </p:cNvPr>
          <p:cNvGrpSpPr/>
          <p:nvPr/>
        </p:nvGrpSpPr>
        <p:grpSpPr>
          <a:xfrm>
            <a:off x="458423" y="3662194"/>
            <a:ext cx="4223243" cy="1976438"/>
            <a:chOff x="1550377" y="3946585"/>
            <a:chExt cx="4223243" cy="1976438"/>
          </a:xfrm>
        </p:grpSpPr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BE55526A-3FCF-B0DC-57F8-DBD37B6437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2531" y="5527735"/>
              <a:ext cx="10668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6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D08B04DA-B734-7399-7FC0-07E0C6D30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331" y="5527735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6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30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679AF531-BF5B-70A9-11BB-B2A50ABA5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2331" y="5527735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6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56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C1574910-57AC-D22B-D6F2-330B0DF2E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131" y="5527735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6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收入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7170BF4D-CB57-C1F5-EAF9-34980095F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385" y="4941701"/>
              <a:ext cx="10668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6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50</a:t>
              </a: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小时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02AE3108-AA14-EEC5-0D9F-F71B3AC9C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1658" y="4927661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6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459A9A58-32D9-9E25-8573-38D1FF71F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6984" y="4941701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6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CE3D79DF-8F52-F0AC-6C09-8EE84FB18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377" y="4941701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6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油漆工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17" name="Rectangle 17">
              <a:extLst>
                <a:ext uri="{FF2B5EF4-FFF2-40B4-BE49-F238E27FC236}">
                  <a16:creationId xmlns:a16="http://schemas.microsoft.com/office/drawing/2014/main" id="{7651F562-46A2-D4F6-95BE-7AC78B686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389" y="4500275"/>
              <a:ext cx="1260231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6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120</a:t>
              </a: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小时</a:t>
              </a:r>
              <a:r>
                <a:rPr lang="zh-CN" altLang="en-US" sz="2000" dirty="0">
                  <a:latin typeface="宋体" panose="02010600030101010101" pitchFamily="2" charset="-122"/>
                </a:rPr>
                <a:t> </a:t>
              </a:r>
            </a:p>
          </p:txBody>
        </p: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D740F65B-6E00-80BE-C5E9-D32F9E9D0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2434" y="4445078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6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3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" name="Rectangle 19">
              <a:extLst>
                <a:ext uri="{FF2B5EF4-FFF2-40B4-BE49-F238E27FC236}">
                  <a16:creationId xmlns:a16="http://schemas.microsoft.com/office/drawing/2014/main" id="{4D2A7EB9-8FD6-0083-2C5E-579D2E85D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917" y="4442750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6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4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999AFEF4-A20E-07A6-F5CD-ADADE69C0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131" y="4431056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6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木工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012E5D77-918D-FF5B-65D1-A2838A74B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2531" y="3946585"/>
              <a:ext cx="10668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6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宋体" panose="02010600030101010101" pitchFamily="2" charset="-122"/>
                </a:rPr>
                <a:t>限制</a:t>
              </a:r>
              <a:r>
                <a:rPr lang="zh-CN" altLang="en-US" sz="2000">
                  <a:latin typeface="宋体" panose="02010600030101010101" pitchFamily="2" charset="-122"/>
                </a:rPr>
                <a:t> </a:t>
              </a:r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9C043812-568B-BC1A-3AD9-E1360CB17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331" y="3946585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6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木窗</a:t>
              </a:r>
            </a:p>
          </p:txBody>
        </p: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710FA853-E6AB-EF0B-99D3-BB7ABD879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2331" y="3946585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6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木门</a:t>
              </a:r>
            </a:p>
          </p:txBody>
        </p:sp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9C6784EB-8320-E6DA-4D19-74CB519D0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131" y="3946585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6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8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9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4902AC24-61D7-DC6F-11FB-19611C28A7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3131" y="3946585"/>
              <a:ext cx="388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D7FA3EC7-3D5D-DA86-606A-6E10BA467E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3131" y="4341872"/>
              <a:ext cx="3886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76200056-08DF-EAB9-2A7B-B961757231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3131" y="5527735"/>
              <a:ext cx="3886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8FCE393B-A240-54DE-A060-29A61844ED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3131" y="5923022"/>
              <a:ext cx="388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dirty="0"/>
            </a:p>
          </p:txBody>
        </p:sp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E1DEEC9A-85E6-DE04-F2B4-796BD29F04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2331" y="3946585"/>
              <a:ext cx="0" cy="19764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" name="Line 30">
              <a:extLst>
                <a:ext uri="{FF2B5EF4-FFF2-40B4-BE49-F238E27FC236}">
                  <a16:creationId xmlns:a16="http://schemas.microsoft.com/office/drawing/2014/main" id="{8AB187DE-3AD1-81E3-E663-FE4BFDAC42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531" y="3946585"/>
              <a:ext cx="0" cy="19764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>
            <a:extLst>
              <a:ext uri="{FF2B5EF4-FFF2-40B4-BE49-F238E27FC236}">
                <a16:creationId xmlns:a16="http://schemas.microsoft.com/office/drawing/2014/main" id="{44FA549E-8CC0-4DB9-84F3-6FD3F1D2D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1" y="-37631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2FFD8A16-DDB7-2FD9-C566-C02099CA8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-357846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07E4B49-5F8A-B7A5-CC7D-6C1E54D27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3883" y="2016464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613AB08-3B11-26B1-D5EF-263842BA7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683" y="2016464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30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D19F075-C831-A6B1-982E-BB0AACEFF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3683" y="2016464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56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7FEC77D-748A-431B-6F83-9ECCBECA2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4483" y="2016464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收入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9DDAC71-6F39-278F-EBBF-244C698B9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4737" y="1430430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50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小时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5F8CD34C-A948-A5C5-960E-B844C3328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3010" y="1416390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Rectangle 15">
            <a:extLst>
              <a:ext uri="{FF2B5EF4-FFF2-40B4-BE49-F238E27FC236}">
                <a16:creationId xmlns:a16="http://schemas.microsoft.com/office/drawing/2014/main" id="{030E04D5-42F1-D75F-668A-14A89DE81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8336" y="1430430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1" name="Rectangle 16">
            <a:extLst>
              <a:ext uri="{FF2B5EF4-FFF2-40B4-BE49-F238E27FC236}">
                <a16:creationId xmlns:a16="http://schemas.microsoft.com/office/drawing/2014/main" id="{40420A14-7374-F2FF-EF6C-231C3B597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9136" y="1415950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油漆工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12" name="Rectangle 17">
            <a:extLst>
              <a:ext uri="{FF2B5EF4-FFF2-40B4-BE49-F238E27FC236}">
                <a16:creationId xmlns:a16="http://schemas.microsoft.com/office/drawing/2014/main" id="{1BE2D79D-E373-33E3-A884-8009FC97C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4740" y="989004"/>
            <a:ext cx="1260231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120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小时</a:t>
            </a:r>
            <a:r>
              <a:rPr lang="zh-CN" altLang="en-US" sz="2000" dirty="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4A3699A1-F510-5072-9225-397A85608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3786" y="933807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3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Rectangle 19">
            <a:extLst>
              <a:ext uri="{FF2B5EF4-FFF2-40B4-BE49-F238E27FC236}">
                <a16:creationId xmlns:a16="http://schemas.microsoft.com/office/drawing/2014/main" id="{A3332B41-8A45-070B-AA26-23CEFAB02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269" y="931479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4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Rectangle 20">
            <a:extLst>
              <a:ext uri="{FF2B5EF4-FFF2-40B4-BE49-F238E27FC236}">
                <a16:creationId xmlns:a16="http://schemas.microsoft.com/office/drawing/2014/main" id="{6CCE2CE2-B1EB-A355-BC33-AA582D0D9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4483" y="919785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16" name="Rectangle 21">
            <a:extLst>
              <a:ext uri="{FF2B5EF4-FFF2-40B4-BE49-F238E27FC236}">
                <a16:creationId xmlns:a16="http://schemas.microsoft.com/office/drawing/2014/main" id="{7C02346F-F251-96C4-905D-31917EE94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3883" y="435314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限制</a:t>
            </a:r>
            <a:r>
              <a:rPr lang="zh-CN" altLang="en-US" sz="200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17" name="Rectangle 22">
            <a:extLst>
              <a:ext uri="{FF2B5EF4-FFF2-40B4-BE49-F238E27FC236}">
                <a16:creationId xmlns:a16="http://schemas.microsoft.com/office/drawing/2014/main" id="{17A67E19-879E-1301-6FA3-CAF7C1568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683" y="435314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木窗</a:t>
            </a:r>
          </a:p>
        </p:txBody>
      </p:sp>
      <p:sp>
        <p:nvSpPr>
          <p:cNvPr id="18" name="Rectangle 23">
            <a:extLst>
              <a:ext uri="{FF2B5EF4-FFF2-40B4-BE49-F238E27FC236}">
                <a16:creationId xmlns:a16="http://schemas.microsoft.com/office/drawing/2014/main" id="{EF7DFD6D-57C8-EF23-4A1F-69695B15F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3683" y="435314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木门</a:t>
            </a:r>
          </a:p>
        </p:txBody>
      </p:sp>
      <p:sp>
        <p:nvSpPr>
          <p:cNvPr id="19" name="Rectangle 24">
            <a:extLst>
              <a:ext uri="{FF2B5EF4-FFF2-40B4-BE49-F238E27FC236}">
                <a16:creationId xmlns:a16="http://schemas.microsoft.com/office/drawing/2014/main" id="{136780EF-9B7F-E163-D0C3-0B00F138F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4483" y="435314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20" name="Line 25">
            <a:extLst>
              <a:ext uri="{FF2B5EF4-FFF2-40B4-BE49-F238E27FC236}">
                <a16:creationId xmlns:a16="http://schemas.microsoft.com/office/drawing/2014/main" id="{99CAC2EE-6865-A6B0-CC36-7A078FC587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4483" y="435314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Line 26">
            <a:extLst>
              <a:ext uri="{FF2B5EF4-FFF2-40B4-BE49-F238E27FC236}">
                <a16:creationId xmlns:a16="http://schemas.microsoft.com/office/drawing/2014/main" id="{D90377EE-EF11-7173-8709-B9CEFCC34F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4483" y="830601"/>
            <a:ext cx="38862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" name="Line 27">
            <a:extLst>
              <a:ext uri="{FF2B5EF4-FFF2-40B4-BE49-F238E27FC236}">
                <a16:creationId xmlns:a16="http://schemas.microsoft.com/office/drawing/2014/main" id="{35165650-2C05-E44D-9868-890B0292119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4483" y="2016464"/>
            <a:ext cx="38862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Line 28">
            <a:extLst>
              <a:ext uri="{FF2B5EF4-FFF2-40B4-BE49-F238E27FC236}">
                <a16:creationId xmlns:a16="http://schemas.microsoft.com/office/drawing/2014/main" id="{D52CC23F-A646-9C42-10CE-3A56275FD9A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4483" y="2411751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dirty="0"/>
          </a:p>
        </p:txBody>
      </p:sp>
      <p:sp>
        <p:nvSpPr>
          <p:cNvPr id="24" name="Line 29">
            <a:extLst>
              <a:ext uri="{FF2B5EF4-FFF2-40B4-BE49-F238E27FC236}">
                <a16:creationId xmlns:a16="http://schemas.microsoft.com/office/drawing/2014/main" id="{EBE6DD49-55BC-DCE9-8B29-223B6D7BB9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33683" y="435314"/>
            <a:ext cx="0" cy="1976438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" name="Line 30">
            <a:extLst>
              <a:ext uri="{FF2B5EF4-FFF2-40B4-BE49-F238E27FC236}">
                <a16:creationId xmlns:a16="http://schemas.microsoft.com/office/drawing/2014/main" id="{3332A2B3-45D8-E4FE-C1DE-BAACC48D5E1C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3883" y="435314"/>
            <a:ext cx="0" cy="1976438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6003409-B27C-5D11-F4D1-D5BC9129A919}"/>
              </a:ext>
            </a:extLst>
          </p:cNvPr>
          <p:cNvSpPr txBox="1"/>
          <p:nvPr/>
        </p:nvSpPr>
        <p:spPr>
          <a:xfrm>
            <a:off x="318764" y="360394"/>
            <a:ext cx="4996130" cy="5351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20000"/>
              </a:lnSpc>
            </a:pP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现在从另一角度来考虑该车间的生产问题。</a:t>
            </a:r>
            <a:endParaRPr lang="en-US" altLang="zh-CN" sz="24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0000"/>
              </a:lnSpc>
            </a:pPr>
            <a:r>
              <a:rPr lang="en-US" altLang="zh-CN" sz="24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假若有一位个体经营者，手中有一批木器家具生产订单．他想利用该木器车间的木工和油漆工来加工完成他的订单，就要事先考虑付给该车间每个工时的价格．他可以建立一个数学模型来研究</a:t>
            </a: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zh-CN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如何订价，才能既使木器车间觉得有利可图从而愿意替他加工这批订单、又使自己所付的工时费用总数最少．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C41AE12-1C4E-B43A-E4BE-9B131CCCAF9B}"/>
                  </a:ext>
                </a:extLst>
              </p:cNvPr>
              <p:cNvSpPr txBox="1"/>
              <p:nvPr/>
            </p:nvSpPr>
            <p:spPr>
              <a:xfrm>
                <a:off x="6214483" y="3002165"/>
                <a:ext cx="4996128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20000"/>
                  </a:lnSpc>
                </a:pPr>
                <a:r>
                  <a:rPr lang="en-US" altLang="zh-CN" sz="2400" kern="100" dirty="0">
                    <a:solidFill>
                      <a:schemeClr val="tx1"/>
                    </a:solidFill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400" kern="100" dirty="0">
                    <a:solidFill>
                      <a:schemeClr val="tx1"/>
                    </a:solidFill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solidFill>
                      <a:schemeClr val="tx1"/>
                    </a:solidFill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为付给木工每个工时的价格，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solidFill>
                      <a:schemeClr val="tx1"/>
                    </a:solidFill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为付给油漆工每个工时的价格，则该个体经营者的目标函数为每日所付工时总费用最小：</a:t>
                </a:r>
              </a:p>
              <a:p>
                <a:pPr algn="just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=120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+50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zh-CN" altLang="zh-CN" sz="2400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C41AE12-1C4E-B43A-E4BE-9B131CCCA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483" y="3002165"/>
                <a:ext cx="4996128" cy="2308324"/>
              </a:xfrm>
              <a:prstGeom prst="rect">
                <a:avLst/>
              </a:prstGeom>
              <a:blipFill>
                <a:blip r:embed="rId7"/>
                <a:stretch>
                  <a:fillRect l="-1829" r="-80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406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>
            <a:extLst>
              <a:ext uri="{FF2B5EF4-FFF2-40B4-BE49-F238E27FC236}">
                <a16:creationId xmlns:a16="http://schemas.microsoft.com/office/drawing/2014/main" id="{44FA549E-8CC0-4DB9-84F3-6FD3F1D2D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1" y="-37631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2" name="Rectangle 5">
            <a:extLst>
              <a:ext uri="{FF2B5EF4-FFF2-40B4-BE49-F238E27FC236}">
                <a16:creationId xmlns:a16="http://schemas.microsoft.com/office/drawing/2014/main" id="{A809079B-92E2-4D2D-9AD6-8C2CF099A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6912" y="1861343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53" name="Rectangle 6">
            <a:extLst>
              <a:ext uri="{FF2B5EF4-FFF2-40B4-BE49-F238E27FC236}">
                <a16:creationId xmlns:a16="http://schemas.microsoft.com/office/drawing/2014/main" id="{3A05A59A-6FAA-415D-B294-6BDFADD7E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8712" y="1861343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30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4" name="Rectangle 7">
            <a:extLst>
              <a:ext uri="{FF2B5EF4-FFF2-40B4-BE49-F238E27FC236}">
                <a16:creationId xmlns:a16="http://schemas.microsoft.com/office/drawing/2014/main" id="{C90C7F5B-9E3B-4CDB-B261-50BD23083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6712" y="1861343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56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5" name="Rectangle 8">
            <a:extLst>
              <a:ext uri="{FF2B5EF4-FFF2-40B4-BE49-F238E27FC236}">
                <a16:creationId xmlns:a16="http://schemas.microsoft.com/office/drawing/2014/main" id="{8AF198C1-70BA-4F3F-8D47-406F9C993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7512" y="1861343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收入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60" name="Rectangle 13">
            <a:extLst>
              <a:ext uri="{FF2B5EF4-FFF2-40B4-BE49-F238E27FC236}">
                <a16:creationId xmlns:a16="http://schemas.microsoft.com/office/drawing/2014/main" id="{81B4B692-80B9-4CCE-BD6F-A938D2788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7766" y="1275309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50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小时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61" name="Rectangle 14">
            <a:extLst>
              <a:ext uri="{FF2B5EF4-FFF2-40B4-BE49-F238E27FC236}">
                <a16:creationId xmlns:a16="http://schemas.microsoft.com/office/drawing/2014/main" id="{FC063A64-E2D0-4C90-8D15-F275D6FC6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6039" y="1261269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2" name="Rectangle 15">
            <a:extLst>
              <a:ext uri="{FF2B5EF4-FFF2-40B4-BE49-F238E27FC236}">
                <a16:creationId xmlns:a16="http://schemas.microsoft.com/office/drawing/2014/main" id="{FB3B7462-DC4A-4C07-8250-F5CA3D24A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365" y="1275309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3" name="Rectangle 16">
            <a:extLst>
              <a:ext uri="{FF2B5EF4-FFF2-40B4-BE49-F238E27FC236}">
                <a16:creationId xmlns:a16="http://schemas.microsoft.com/office/drawing/2014/main" id="{C8723C87-5EE6-49DB-921B-F379731C5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2165" y="1260829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油漆工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64" name="Rectangle 17">
            <a:extLst>
              <a:ext uri="{FF2B5EF4-FFF2-40B4-BE49-F238E27FC236}">
                <a16:creationId xmlns:a16="http://schemas.microsoft.com/office/drawing/2014/main" id="{F1EF6DB4-722E-4589-9153-1B04A458A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7770" y="833883"/>
            <a:ext cx="1260231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120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小时</a:t>
            </a:r>
            <a:r>
              <a:rPr lang="zh-CN" altLang="en-US" sz="2000" dirty="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65" name="Rectangle 18">
            <a:extLst>
              <a:ext uri="{FF2B5EF4-FFF2-40B4-BE49-F238E27FC236}">
                <a16:creationId xmlns:a16="http://schemas.microsoft.com/office/drawing/2014/main" id="{D5F99D83-0EEE-4DAB-A510-811CF0723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6815" y="778686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3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6" name="Rectangle 19">
            <a:extLst>
              <a:ext uri="{FF2B5EF4-FFF2-40B4-BE49-F238E27FC236}">
                <a16:creationId xmlns:a16="http://schemas.microsoft.com/office/drawing/2014/main" id="{80312062-DB4D-47DB-AE67-A73917830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4298" y="776358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4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7" name="Rectangle 20">
            <a:extLst>
              <a:ext uri="{FF2B5EF4-FFF2-40B4-BE49-F238E27FC236}">
                <a16:creationId xmlns:a16="http://schemas.microsoft.com/office/drawing/2014/main" id="{8D434A73-F0FA-40E1-8327-14DBE701C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7512" y="764664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68" name="Rectangle 21">
            <a:extLst>
              <a:ext uri="{FF2B5EF4-FFF2-40B4-BE49-F238E27FC236}">
                <a16:creationId xmlns:a16="http://schemas.microsoft.com/office/drawing/2014/main" id="{B5B9E5D7-8905-4740-997A-EE480D391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6912" y="280193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限制</a:t>
            </a:r>
            <a:r>
              <a:rPr lang="zh-CN" altLang="en-US" sz="200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69" name="Rectangle 22">
            <a:extLst>
              <a:ext uri="{FF2B5EF4-FFF2-40B4-BE49-F238E27FC236}">
                <a16:creationId xmlns:a16="http://schemas.microsoft.com/office/drawing/2014/main" id="{864266B1-52D6-4897-AF7C-FB0757025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8712" y="280193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木窗</a:t>
            </a:r>
          </a:p>
        </p:txBody>
      </p:sp>
      <p:sp>
        <p:nvSpPr>
          <p:cNvPr id="70" name="Rectangle 23">
            <a:extLst>
              <a:ext uri="{FF2B5EF4-FFF2-40B4-BE49-F238E27FC236}">
                <a16:creationId xmlns:a16="http://schemas.microsoft.com/office/drawing/2014/main" id="{C55E2847-AC1F-483E-B423-82DD0BF14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6712" y="280193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木门</a:t>
            </a:r>
          </a:p>
        </p:txBody>
      </p:sp>
      <p:sp>
        <p:nvSpPr>
          <p:cNvPr id="71" name="Rectangle 24">
            <a:extLst>
              <a:ext uri="{FF2B5EF4-FFF2-40B4-BE49-F238E27FC236}">
                <a16:creationId xmlns:a16="http://schemas.microsoft.com/office/drawing/2014/main" id="{E7209422-F433-4E43-B4A9-E61134286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7512" y="280193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72" name="Line 25">
            <a:extLst>
              <a:ext uri="{FF2B5EF4-FFF2-40B4-BE49-F238E27FC236}">
                <a16:creationId xmlns:a16="http://schemas.microsoft.com/office/drawing/2014/main" id="{C3513764-5AC4-4BA7-8F63-157EDEBD24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7512" y="280193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3" name="Line 26">
            <a:extLst>
              <a:ext uri="{FF2B5EF4-FFF2-40B4-BE49-F238E27FC236}">
                <a16:creationId xmlns:a16="http://schemas.microsoft.com/office/drawing/2014/main" id="{53492EE2-0FDF-44E6-9C6B-7E341ABC5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7512" y="675480"/>
            <a:ext cx="38862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4" name="Line 27">
            <a:extLst>
              <a:ext uri="{FF2B5EF4-FFF2-40B4-BE49-F238E27FC236}">
                <a16:creationId xmlns:a16="http://schemas.microsoft.com/office/drawing/2014/main" id="{B3B61D06-EA59-4F37-897B-5D14C993338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7512" y="1861343"/>
            <a:ext cx="38862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5" name="Line 28">
            <a:extLst>
              <a:ext uri="{FF2B5EF4-FFF2-40B4-BE49-F238E27FC236}">
                <a16:creationId xmlns:a16="http://schemas.microsoft.com/office/drawing/2014/main" id="{319AFD01-1C34-409B-BDC2-871DED41BA8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7512" y="2256630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dirty="0"/>
          </a:p>
        </p:txBody>
      </p:sp>
      <p:sp>
        <p:nvSpPr>
          <p:cNvPr id="76" name="Line 29">
            <a:extLst>
              <a:ext uri="{FF2B5EF4-FFF2-40B4-BE49-F238E27FC236}">
                <a16:creationId xmlns:a16="http://schemas.microsoft.com/office/drawing/2014/main" id="{B14FECD3-3D8B-4381-AF86-6D77F922DEAC}"/>
              </a:ext>
            </a:extLst>
          </p:cNvPr>
          <p:cNvSpPr>
            <a:spLocks noChangeShapeType="1"/>
          </p:cNvSpPr>
          <p:nvPr/>
        </p:nvSpPr>
        <p:spPr bwMode="auto">
          <a:xfrm>
            <a:off x="7716712" y="280193"/>
            <a:ext cx="0" cy="1976438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7" name="Line 30">
            <a:extLst>
              <a:ext uri="{FF2B5EF4-FFF2-40B4-BE49-F238E27FC236}">
                <a16:creationId xmlns:a16="http://schemas.microsoft.com/office/drawing/2014/main" id="{2412244D-DAE2-4C36-8864-0CB7F5FC0D4A}"/>
              </a:ext>
            </a:extLst>
          </p:cNvPr>
          <p:cNvSpPr>
            <a:spLocks noChangeShapeType="1"/>
          </p:cNvSpPr>
          <p:nvPr/>
        </p:nvSpPr>
        <p:spPr bwMode="auto">
          <a:xfrm>
            <a:off x="9316912" y="280193"/>
            <a:ext cx="0" cy="1976438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B0F9589-74E9-434E-8E92-D9430755D13C}"/>
                  </a:ext>
                </a:extLst>
              </p:cNvPr>
              <p:cNvSpPr txBox="1"/>
              <p:nvPr/>
            </p:nvSpPr>
            <p:spPr>
              <a:xfrm>
                <a:off x="359437" y="539101"/>
                <a:ext cx="5398054" cy="2262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266700" algn="just">
                  <a:lnSpc>
                    <a:spcPct val="120000"/>
                  </a:lnSpc>
                  <a:defRPr sz="2400" kern="10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zh-CN" dirty="0"/>
                  <a:t> </a:t>
                </a:r>
                <a:r>
                  <a:rPr lang="zh-CN" altLang="zh-CN" dirty="0"/>
                  <a:t>但该个体经营者所付的价格不能太低，至少不能低于该车间生产木门、木窗时所得到的收入，否则该车间觉得无利可图就不会替他加工这批订单．即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/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/>
                  <a:t>的取值应满足如下约束条件：</a:t>
                </a: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B0F9589-74E9-434E-8E92-D9430755D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37" y="539101"/>
                <a:ext cx="5398054" cy="2262992"/>
              </a:xfrm>
              <a:prstGeom prst="rect">
                <a:avLst/>
              </a:prstGeom>
              <a:blipFill>
                <a:blip r:embed="rId7"/>
                <a:stretch>
                  <a:fillRect l="-1808" t="-1613" r="-1695" b="-43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本框 31">
            <a:extLst>
              <a:ext uri="{FF2B5EF4-FFF2-40B4-BE49-F238E27FC236}">
                <a16:creationId xmlns:a16="http://schemas.microsoft.com/office/drawing/2014/main" id="{726E9384-2094-40C5-AB28-0B5C157D053B}"/>
              </a:ext>
            </a:extLst>
          </p:cNvPr>
          <p:cNvSpPr txBox="1"/>
          <p:nvPr/>
        </p:nvSpPr>
        <p:spPr>
          <a:xfrm>
            <a:off x="6095999" y="2944001"/>
            <a:ext cx="50809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故，该个体经营者的数学模型应为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B887A4A4-9F08-49C7-9933-A700C6850F6C}"/>
                  </a:ext>
                </a:extLst>
              </p:cNvPr>
              <p:cNvSpPr txBox="1"/>
              <p:nvPr/>
            </p:nvSpPr>
            <p:spPr>
              <a:xfrm>
                <a:off x="6047643" y="5837986"/>
                <a:ext cx="55293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求得最优解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=2, </m:t>
                    </m:r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=24, </m:t>
                    </m:r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=1440</m:t>
                    </m:r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B887A4A4-9F08-49C7-9933-A700C6850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643" y="5837986"/>
                <a:ext cx="5529313" cy="461665"/>
              </a:xfrm>
              <a:prstGeom prst="rect">
                <a:avLst/>
              </a:prstGeom>
              <a:blipFill>
                <a:blip r:embed="rId8"/>
                <a:stretch>
                  <a:fillRect l="-1654" t="-14667" r="-992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5">
                <a:extLst>
                  <a:ext uri="{FF2B5EF4-FFF2-40B4-BE49-F238E27FC236}">
                    <a16:creationId xmlns:a16="http://schemas.microsoft.com/office/drawing/2014/main" id="{D4BB20CD-A867-FFDB-CFB6-BB581848C745}"/>
                  </a:ext>
                </a:extLst>
              </p:cNvPr>
              <p:cNvSpPr txBox="1"/>
              <p:nvPr/>
            </p:nvSpPr>
            <p:spPr>
              <a:xfrm>
                <a:off x="-412080" y="3863056"/>
                <a:ext cx="6099348" cy="1271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&amp;4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≥56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≥30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2" name="TextBox 5">
                <a:extLst>
                  <a:ext uri="{FF2B5EF4-FFF2-40B4-BE49-F238E27FC236}">
                    <a16:creationId xmlns:a16="http://schemas.microsoft.com/office/drawing/2014/main" id="{D4BB20CD-A867-FFDB-CFB6-BB581848C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2080" y="3863056"/>
                <a:ext cx="6099348" cy="127143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">
                <a:extLst>
                  <a:ext uri="{FF2B5EF4-FFF2-40B4-BE49-F238E27FC236}">
                    <a16:creationId xmlns:a16="http://schemas.microsoft.com/office/drawing/2014/main" id="{B7BE3FCB-B9EF-CF2E-0208-45500CC2232D}"/>
                  </a:ext>
                </a:extLst>
              </p:cNvPr>
              <p:cNvSpPr txBox="1"/>
              <p:nvPr/>
            </p:nvSpPr>
            <p:spPr>
              <a:xfrm>
                <a:off x="5391726" y="3788000"/>
                <a:ext cx="6097772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/>
                      </m:func>
                      <m:r>
                        <a:rPr lang="en-CN" sz="240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=120</m:t>
                      </m:r>
                      <m:sSub>
                        <m:sSubPr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N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N" sz="2400" i="0">
                          <a:latin typeface="Cambria Math" panose="02040503050406030204" pitchFamily="18" charset="0"/>
                        </a:rPr>
                        <m:t>+50</m:t>
                      </m:r>
                      <m:sSub>
                        <m:sSubPr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N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&amp;4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≥56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≥30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4" name="TextBox 2">
                <a:extLst>
                  <a:ext uri="{FF2B5EF4-FFF2-40B4-BE49-F238E27FC236}">
                    <a16:creationId xmlns:a16="http://schemas.microsoft.com/office/drawing/2014/main" id="{B7BE3FCB-B9EF-CF2E-0208-45500CC22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1726" y="3788000"/>
                <a:ext cx="6097772" cy="164077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5048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6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CF2D8A-7C74-C775-E15F-EECDAE631CBC}"/>
                  </a:ext>
                </a:extLst>
              </p:cNvPr>
              <p:cNvSpPr txBox="1"/>
              <p:nvPr/>
            </p:nvSpPr>
            <p:spPr>
              <a:xfrm>
                <a:off x="549980" y="394369"/>
                <a:ext cx="6134986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=56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+30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&amp;4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≤120</m:t>
                              </m:r>
                            </m:e>
                            <m:e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&amp;2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≤50</m:t>
                              </m:r>
                            </m:e>
                            <m:e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CF2D8A-7C74-C775-E15F-EECDAE631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80" y="394369"/>
                <a:ext cx="6134986" cy="16407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50831F-6F12-CEC2-74B4-9A0B9D181590}"/>
                  </a:ext>
                </a:extLst>
              </p:cNvPr>
              <p:cNvSpPr txBox="1"/>
              <p:nvPr/>
            </p:nvSpPr>
            <p:spPr>
              <a:xfrm>
                <a:off x="5334886" y="394369"/>
                <a:ext cx="6097772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CN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CN" altLang="zh-CN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=120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N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N" altLang="zh-CN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+50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N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&amp;4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≥56</m:t>
                              </m:r>
                            </m:e>
                            <m:e>
                              <m:r>
                                <a:rPr lang="en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&amp;3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≥30</m:t>
                              </m:r>
                            </m:e>
                            <m:e>
                              <m:r>
                                <a:rPr lang="en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50831F-6F12-CEC2-74B4-9A0B9D181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886" y="394369"/>
                <a:ext cx="6097772" cy="16407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8FD73E-F133-EA35-DD63-2192B97C975E}"/>
                  </a:ext>
                </a:extLst>
              </p:cNvPr>
              <p:cNvSpPr txBox="1"/>
              <p:nvPr/>
            </p:nvSpPr>
            <p:spPr>
              <a:xfrm>
                <a:off x="549980" y="2409508"/>
                <a:ext cx="11443545" cy="40541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我们将这两个线性规划模型称为一对互为对偶的线性规划模型，它们使用了相同的数据，只是这些数据在模型中所处的位置不同，表达的含义也不同。</a:t>
                </a:r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若将前者称为原问题，则后者就是其对偶问题。可以看出：原问题的价值系数在对偶问题中成为约束条件的右端项，而对偶问题的价值系数成为原问题约束条件的右端项；原问题中第一</a:t>
                </a:r>
                <a:r>
                  <a:rPr lang="en-US" sz="2400" dirty="0">
                    <a:effectLst/>
                    <a:latin typeface="SimSun" panose="02010600030101010101" pitchFamily="2" charset="-122"/>
                    <a:ea typeface="Times New Roman" panose="02020603050405020304" pitchFamily="18" charset="0"/>
                  </a:rPr>
                  <a:t>(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二</a:t>
                </a:r>
                <a:r>
                  <a:rPr lang="en-US" sz="2400" dirty="0">
                    <a:effectLst/>
                    <a:latin typeface="SimSun" panose="02010600030101010101" pitchFamily="2" charset="-122"/>
                    <a:ea typeface="Times New Roman" panose="02020603050405020304" pitchFamily="18" charset="0"/>
                  </a:rPr>
                  <a:t>)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个不等式的变量系数，在对偶问题中成为决策变量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</m:t>
                    </m:r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的系数列向量</a:t>
                </a:r>
                <a:r>
                  <a:rPr lang="en-US" sz="2400" dirty="0">
                    <a:effectLst/>
                    <a:latin typeface="SimSun" panose="02010600030101010101" pitchFamily="2" charset="-122"/>
                    <a:ea typeface="Times New Roman" panose="02020603050405020304" pitchFamily="18" charset="0"/>
                  </a:rPr>
                  <a:t>,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而对偶问题第一</a:t>
                </a:r>
                <a:r>
                  <a:rPr lang="en-US" sz="2400" dirty="0">
                    <a:effectLst/>
                    <a:latin typeface="SimSun" panose="02010600030101010101" pitchFamily="2" charset="-122"/>
                    <a:ea typeface="Times New Roman" panose="02020603050405020304" pitchFamily="18" charset="0"/>
                  </a:rPr>
                  <a:t>(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二</a:t>
                </a:r>
                <a:r>
                  <a:rPr lang="en-US" sz="2400" dirty="0">
                    <a:effectLst/>
                    <a:latin typeface="SimSun" panose="02010600030101010101" pitchFamily="2" charset="-122"/>
                    <a:ea typeface="Times New Roman" panose="02020603050405020304" pitchFamily="18" charset="0"/>
                  </a:rPr>
                  <a:t>)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个不等式的变量系数</a:t>
                </a:r>
                <a:r>
                  <a:rPr lang="en-US" sz="2400" dirty="0">
                    <a:effectLst/>
                    <a:latin typeface="SimSun" panose="02010600030101010101" pitchFamily="2" charset="-122"/>
                    <a:ea typeface="Times New Roman" panose="02020603050405020304" pitchFamily="18" charset="0"/>
                  </a:rPr>
                  <a:t>,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在原问题中成为变量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</m:t>
                    </m:r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的系数列向量。</a:t>
                </a:r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8FD73E-F133-EA35-DD63-2192B97C9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80" y="2409508"/>
                <a:ext cx="11443545" cy="4054123"/>
              </a:xfrm>
              <a:prstGeom prst="rect">
                <a:avLst/>
              </a:prstGeom>
              <a:blipFill>
                <a:blip r:embed="rId4"/>
                <a:stretch>
                  <a:fillRect l="-799" r="-426" b="-2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F001263-9CF6-43B9-9FCE-BE051978A5E8}"/>
              </a:ext>
            </a:extLst>
          </p:cNvPr>
          <p:cNvSpPr txBox="1"/>
          <p:nvPr/>
        </p:nvSpPr>
        <p:spPr>
          <a:xfrm>
            <a:off x="798990" y="848224"/>
            <a:ext cx="10404629" cy="3360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333333"/>
                </a:solidFill>
                <a:latin typeface="+mn-ea"/>
              </a:rPr>
              <a:t>       </a:t>
            </a:r>
            <a:r>
              <a:rPr lang="zh-CN" altLang="en-US" sz="2400" b="1" dirty="0">
                <a:solidFill>
                  <a:srgbClr val="0070C0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影子价格（</a:t>
            </a:r>
            <a:r>
              <a:rPr lang="en-US" altLang="zh-CN" sz="2400" b="1" dirty="0">
                <a:solidFill>
                  <a:srgbClr val="0070C0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shadow price</a:t>
            </a:r>
            <a:r>
              <a:rPr lang="zh-CN" altLang="en-US" sz="2400" b="1" dirty="0">
                <a:solidFill>
                  <a:srgbClr val="0070C0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）</a:t>
            </a:r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的概念是</a:t>
            </a:r>
            <a:r>
              <a:rPr lang="en-US" altLang="zh-CN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20</a:t>
            </a:r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世纪</a:t>
            </a:r>
            <a:r>
              <a:rPr lang="en-US" altLang="zh-CN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30</a:t>
            </a:r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年代末至</a:t>
            </a:r>
            <a:r>
              <a:rPr lang="en-US" altLang="zh-CN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20</a:t>
            </a:r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世纪</a:t>
            </a:r>
            <a:r>
              <a:rPr lang="en-US" altLang="zh-CN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40</a:t>
            </a:r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年代初由荷兰数理经济学、计量经济学创造人之一詹恩</a:t>
            </a:r>
            <a:r>
              <a:rPr lang="en-US" altLang="zh-CN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·</a:t>
            </a:r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丁伯根和前苏联数学家、经济学家、诺贝尔经济学奖金获得者康托罗维奇分别提出来的。它最初来自于求解一个目标最大化的线性规划问题。当某种资源每增加一个单位，目标增加一定的单位，不同的资源有不同的边际贡献，这种资源的边际贡献就定义为该资源的影子价格。</a:t>
            </a:r>
            <a:endParaRPr lang="zh-CN" altLang="en-US" sz="2400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9891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组合 74">
            <a:extLst>
              <a:ext uri="{FF2B5EF4-FFF2-40B4-BE49-F238E27FC236}">
                <a16:creationId xmlns:a16="http://schemas.microsoft.com/office/drawing/2014/main" id="{27D0F77B-F370-7BB3-B2F8-FBCAA3B01417}"/>
              </a:ext>
            </a:extLst>
          </p:cNvPr>
          <p:cNvGrpSpPr/>
          <p:nvPr/>
        </p:nvGrpSpPr>
        <p:grpSpPr>
          <a:xfrm>
            <a:off x="6497512" y="280193"/>
            <a:ext cx="4170489" cy="1976438"/>
            <a:chOff x="6497512" y="280193"/>
            <a:chExt cx="4170489" cy="1976438"/>
          </a:xfrm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824C07BB-4ACE-4C98-AB53-FB60B772B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6912" y="1861343"/>
              <a:ext cx="10668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8D0B59F2-54C9-4552-868C-BE093925C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8712" y="1861343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30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23162664-ED36-4A56-B622-05D8EFD15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6712" y="1861343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56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729D44D3-C036-4A73-8F18-E326C86B3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7512" y="1861343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收入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9C9EEF54-BDFA-47CC-85E5-BA954944D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7766" y="1275309"/>
              <a:ext cx="10668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50</a:t>
              </a: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小时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ED935535-58F0-4F9E-9A09-8C0C707A7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86039" y="1261269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38012CDC-D4AC-45D0-B78D-E6CF36A04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1365" y="1275309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FAB4772E-FBCC-4B55-BAC9-DD619B175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2165" y="1260829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油漆工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53D407B5-434B-4CA0-8186-0B6E82553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7770" y="833883"/>
              <a:ext cx="1260231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121</a:t>
              </a:r>
              <a:r>
                <a:rPr lang="zh-CN" altLang="en-US" sz="20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小时 </a:t>
              </a: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88D57780-4939-4CE6-95E8-9503764A9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6815" y="778686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3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BBD5C7EB-C61B-4EA8-B909-6FAC51B86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4298" y="776358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4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" name="Rectangle 20">
              <a:extLst>
                <a:ext uri="{FF2B5EF4-FFF2-40B4-BE49-F238E27FC236}">
                  <a16:creationId xmlns:a16="http://schemas.microsoft.com/office/drawing/2014/main" id="{AEABCF8E-C157-41EC-A253-327AF3718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7512" y="764664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木工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EB4B490B-44FC-4E0C-8537-6BF61AF9C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6912" y="280193"/>
              <a:ext cx="10668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宋体" panose="02010600030101010101" pitchFamily="2" charset="-122"/>
                </a:rPr>
                <a:t>限制</a:t>
              </a:r>
              <a:r>
                <a:rPr lang="zh-CN" altLang="en-US" sz="2000">
                  <a:latin typeface="宋体" panose="02010600030101010101" pitchFamily="2" charset="-122"/>
                </a:rPr>
                <a:t> </a:t>
              </a:r>
            </a:p>
          </p:txBody>
        </p:sp>
        <p:sp>
          <p:nvSpPr>
            <p:cNvPr id="24" name="Rectangle 22">
              <a:extLst>
                <a:ext uri="{FF2B5EF4-FFF2-40B4-BE49-F238E27FC236}">
                  <a16:creationId xmlns:a16="http://schemas.microsoft.com/office/drawing/2014/main" id="{8DC106F7-5120-41B3-93B2-34F327686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8712" y="280193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木窗</a:t>
              </a:r>
            </a:p>
          </p:txBody>
        </p: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8B2C28C3-3483-49AF-BE23-9278D13BA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6712" y="280193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木门</a:t>
              </a:r>
            </a:p>
          </p:txBody>
        </p:sp>
        <p:sp>
          <p:nvSpPr>
            <p:cNvPr id="26" name="Rectangle 24">
              <a:extLst>
                <a:ext uri="{FF2B5EF4-FFF2-40B4-BE49-F238E27FC236}">
                  <a16:creationId xmlns:a16="http://schemas.microsoft.com/office/drawing/2014/main" id="{B6A2B8B6-1F68-498C-911C-7C4A3A48E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7512" y="280193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F886FA5A-2766-4149-B74A-3F92BB1A3A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7512" y="280193"/>
              <a:ext cx="388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391BEC70-F2B8-4195-9157-FE61D2F400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7512" y="675480"/>
              <a:ext cx="3886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98DDA112-BCA8-4D5C-B1E0-58BBB17B1D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7512" y="1861343"/>
              <a:ext cx="3886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B48F33CD-BAE0-4AE4-BFF5-9F893857BA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7512" y="2256630"/>
              <a:ext cx="388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dirty="0"/>
            </a:p>
          </p:txBody>
        </p:sp>
        <p:sp>
          <p:nvSpPr>
            <p:cNvPr id="31" name="Line 29">
              <a:extLst>
                <a:ext uri="{FF2B5EF4-FFF2-40B4-BE49-F238E27FC236}">
                  <a16:creationId xmlns:a16="http://schemas.microsoft.com/office/drawing/2014/main" id="{A49BBB22-6102-4350-96B1-24A1A877B9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6712" y="280193"/>
              <a:ext cx="0" cy="19764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" name="Line 30">
              <a:extLst>
                <a:ext uri="{FF2B5EF4-FFF2-40B4-BE49-F238E27FC236}">
                  <a16:creationId xmlns:a16="http://schemas.microsoft.com/office/drawing/2014/main" id="{3EBF58A2-B9AF-42C5-9CCA-22789FC70E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16912" y="280193"/>
              <a:ext cx="0" cy="19764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DC31825-966E-47F9-A3F1-25E7DB209AA2}"/>
                  </a:ext>
                </a:extLst>
              </p:cNvPr>
              <p:cNvSpPr txBox="1"/>
              <p:nvPr/>
            </p:nvSpPr>
            <p:spPr>
              <a:xfrm>
                <a:off x="1374179" y="2570164"/>
                <a:ext cx="7743188" cy="5057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设每日生产木门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扇，木窗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扇，</a:t>
                </a:r>
                <a:r>
                  <a:rPr lang="zh-CN" altLang="en-US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分别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建立数学模型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DC31825-966E-47F9-A3F1-25E7DB209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179" y="2570164"/>
                <a:ext cx="7743188" cy="505779"/>
              </a:xfrm>
              <a:prstGeom prst="rect">
                <a:avLst/>
              </a:prstGeom>
              <a:blipFill>
                <a:blip r:embed="rId7"/>
                <a:stretch>
                  <a:fillRect l="-1309" t="-7317" b="-1951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ED702EB6-5819-4C48-B8B5-C32158FE8B7F}"/>
                  </a:ext>
                </a:extLst>
              </p:cNvPr>
              <p:cNvSpPr txBox="1"/>
              <p:nvPr/>
            </p:nvSpPr>
            <p:spPr>
              <a:xfrm>
                <a:off x="1556003" y="5246672"/>
                <a:ext cx="590843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求得最优解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=15, </m:t>
                    </m:r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=20, </m:t>
                    </m:r>
                  </m:oMath>
                </a14:m>
                <a:endParaRPr lang="en-US" altLang="zh-CN" sz="2400" i="1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=1440</m:t>
                    </m:r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ED702EB6-5819-4C48-B8B5-C32158FE8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6003" y="5246672"/>
                <a:ext cx="5908431" cy="830997"/>
              </a:xfrm>
              <a:prstGeom prst="rect">
                <a:avLst/>
              </a:prstGeom>
              <a:blipFill>
                <a:blip r:embed="rId8"/>
                <a:stretch>
                  <a:fillRect l="-1548"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F9BFCFBE-7393-43C5-A0A5-904945E6A2D9}"/>
                  </a:ext>
                </a:extLst>
              </p:cNvPr>
              <p:cNvSpPr txBox="1"/>
              <p:nvPr/>
            </p:nvSpPr>
            <p:spPr>
              <a:xfrm>
                <a:off x="6296756" y="5219434"/>
                <a:ext cx="428771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求得最优解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=14.5, </m:t>
                    </m:r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=21, </m:t>
                    </m:r>
                  </m:oMath>
                </a14:m>
                <a:endParaRPr lang="en-US" altLang="zh-CN" sz="2400" i="1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=1442</m:t>
                    </m:r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F9BFCFBE-7393-43C5-A0A5-904945E6A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756" y="5219434"/>
                <a:ext cx="4287712" cy="830997"/>
              </a:xfrm>
              <a:prstGeom prst="rect">
                <a:avLst/>
              </a:prstGeom>
              <a:blipFill>
                <a:blip r:embed="rId9"/>
                <a:stretch>
                  <a:fillRect l="-2065" t="-5970" r="-590" b="-1492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FF43FEB6-47F9-9A40-3A23-E6FBD329BE53}"/>
              </a:ext>
            </a:extLst>
          </p:cNvPr>
          <p:cNvGrpSpPr/>
          <p:nvPr/>
        </p:nvGrpSpPr>
        <p:grpSpPr>
          <a:xfrm>
            <a:off x="975601" y="334979"/>
            <a:ext cx="4170489" cy="1976438"/>
            <a:chOff x="6497512" y="280193"/>
            <a:chExt cx="4170489" cy="1976438"/>
          </a:xfrm>
        </p:grpSpPr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9C2B879D-9ACD-396B-5932-74FFF1876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6912" y="1861343"/>
              <a:ext cx="10668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C2573B59-7DE5-77C9-C596-4874ABEA6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8712" y="1861343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30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6E42309D-E46E-4BA8-386B-69CE150E4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6712" y="1861343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56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5E3A53F8-C9E1-A41A-E5E7-A0D1F31B9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7512" y="1861343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收入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9" name="Rectangle 13">
              <a:extLst>
                <a:ext uri="{FF2B5EF4-FFF2-40B4-BE49-F238E27FC236}">
                  <a16:creationId xmlns:a16="http://schemas.microsoft.com/office/drawing/2014/main" id="{7AA2F61B-F322-2314-C7D1-05799C193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7766" y="1275309"/>
              <a:ext cx="10668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50</a:t>
              </a: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小时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10" name="Rectangle 14">
              <a:extLst>
                <a:ext uri="{FF2B5EF4-FFF2-40B4-BE49-F238E27FC236}">
                  <a16:creationId xmlns:a16="http://schemas.microsoft.com/office/drawing/2014/main" id="{D6ED73D9-60CC-E764-015B-1283F406E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86039" y="1261269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D82FBDE3-2EAF-57CF-C441-635617BD1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1365" y="1275309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0" name="Rectangle 16">
              <a:extLst>
                <a:ext uri="{FF2B5EF4-FFF2-40B4-BE49-F238E27FC236}">
                  <a16:creationId xmlns:a16="http://schemas.microsoft.com/office/drawing/2014/main" id="{324E5505-1253-24FC-49AA-89CBC4BD4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2165" y="1260829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油漆工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61" name="Rectangle 17">
              <a:extLst>
                <a:ext uri="{FF2B5EF4-FFF2-40B4-BE49-F238E27FC236}">
                  <a16:creationId xmlns:a16="http://schemas.microsoft.com/office/drawing/2014/main" id="{14BE9CBB-598C-897F-511C-4CA17615E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7770" y="833883"/>
              <a:ext cx="1260231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120</a:t>
              </a:r>
              <a:r>
                <a:rPr lang="zh-CN" altLang="en-US" sz="20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小时 </a:t>
              </a:r>
            </a:p>
          </p:txBody>
        </p:sp>
        <p:sp>
          <p:nvSpPr>
            <p:cNvPr id="62" name="Rectangle 18">
              <a:extLst>
                <a:ext uri="{FF2B5EF4-FFF2-40B4-BE49-F238E27FC236}">
                  <a16:creationId xmlns:a16="http://schemas.microsoft.com/office/drawing/2014/main" id="{D1DFDA4F-CFCB-57CB-5D4A-E32853C34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6815" y="778686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3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3" name="Rectangle 19">
              <a:extLst>
                <a:ext uri="{FF2B5EF4-FFF2-40B4-BE49-F238E27FC236}">
                  <a16:creationId xmlns:a16="http://schemas.microsoft.com/office/drawing/2014/main" id="{EA583268-6830-6AEB-78E0-E7354A3A8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4298" y="776358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4</a:t>
              </a:r>
              <a:endPara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4" name="Rectangle 20">
              <a:extLst>
                <a:ext uri="{FF2B5EF4-FFF2-40B4-BE49-F238E27FC236}">
                  <a16:creationId xmlns:a16="http://schemas.microsoft.com/office/drawing/2014/main" id="{8A796201-D23D-AF3A-EF67-A0A69D122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7512" y="764664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木工</a:t>
              </a:r>
              <a:endParaRPr lang="zh-CN" altLang="en-US" sz="2000" dirty="0">
                <a:latin typeface="宋体" panose="02010600030101010101" pitchFamily="2" charset="-122"/>
              </a:endParaRPr>
            </a:p>
          </p:txBody>
        </p:sp>
        <p:sp>
          <p:nvSpPr>
            <p:cNvPr id="65" name="Rectangle 21">
              <a:extLst>
                <a:ext uri="{FF2B5EF4-FFF2-40B4-BE49-F238E27FC236}">
                  <a16:creationId xmlns:a16="http://schemas.microsoft.com/office/drawing/2014/main" id="{FE52FC9A-6853-CF1D-13CD-D4D020FEA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6912" y="280193"/>
              <a:ext cx="10668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宋体" panose="02010600030101010101" pitchFamily="2" charset="-122"/>
                </a:rPr>
                <a:t>限制</a:t>
              </a:r>
              <a:r>
                <a:rPr lang="zh-CN" altLang="en-US" sz="2000">
                  <a:latin typeface="宋体" panose="02010600030101010101" pitchFamily="2" charset="-122"/>
                </a:rPr>
                <a:t> </a:t>
              </a:r>
            </a:p>
          </p:txBody>
        </p:sp>
        <p:sp>
          <p:nvSpPr>
            <p:cNvPr id="66" name="Rectangle 22">
              <a:extLst>
                <a:ext uri="{FF2B5EF4-FFF2-40B4-BE49-F238E27FC236}">
                  <a16:creationId xmlns:a16="http://schemas.microsoft.com/office/drawing/2014/main" id="{599EB173-A677-9E37-4DA4-39515F19E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8712" y="280193"/>
              <a:ext cx="838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木窗</a:t>
              </a:r>
            </a:p>
          </p:txBody>
        </p:sp>
        <p:sp>
          <p:nvSpPr>
            <p:cNvPr id="67" name="Rectangle 23">
              <a:extLst>
                <a:ext uri="{FF2B5EF4-FFF2-40B4-BE49-F238E27FC236}">
                  <a16:creationId xmlns:a16="http://schemas.microsoft.com/office/drawing/2014/main" id="{2B2A885E-6120-D0EF-B058-41B140A84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6712" y="280193"/>
              <a:ext cx="7620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木门</a:t>
              </a:r>
            </a:p>
          </p:txBody>
        </p:sp>
        <p:sp>
          <p:nvSpPr>
            <p:cNvPr id="68" name="Rectangle 24">
              <a:extLst>
                <a:ext uri="{FF2B5EF4-FFF2-40B4-BE49-F238E27FC236}">
                  <a16:creationId xmlns:a16="http://schemas.microsoft.com/office/drawing/2014/main" id="{8A874D91-F6A6-224F-5937-39A134D4E6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7512" y="280193"/>
              <a:ext cx="1219200" cy="395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69" name="Line 25">
              <a:extLst>
                <a:ext uri="{FF2B5EF4-FFF2-40B4-BE49-F238E27FC236}">
                  <a16:creationId xmlns:a16="http://schemas.microsoft.com/office/drawing/2014/main" id="{AF97F6CE-FBDC-E45A-3016-2E57ED9C4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7512" y="280193"/>
              <a:ext cx="388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" name="Line 26">
              <a:extLst>
                <a:ext uri="{FF2B5EF4-FFF2-40B4-BE49-F238E27FC236}">
                  <a16:creationId xmlns:a16="http://schemas.microsoft.com/office/drawing/2014/main" id="{17BFF08D-2F7C-B342-B77F-6864E60F9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7512" y="675480"/>
              <a:ext cx="3886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" name="Line 27">
              <a:extLst>
                <a:ext uri="{FF2B5EF4-FFF2-40B4-BE49-F238E27FC236}">
                  <a16:creationId xmlns:a16="http://schemas.microsoft.com/office/drawing/2014/main" id="{C3E82ABD-6BE8-B565-D706-7A756362B5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7512" y="1861343"/>
              <a:ext cx="3886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" name="Line 28">
              <a:extLst>
                <a:ext uri="{FF2B5EF4-FFF2-40B4-BE49-F238E27FC236}">
                  <a16:creationId xmlns:a16="http://schemas.microsoft.com/office/drawing/2014/main" id="{B0342534-B022-0A73-E3F5-7909252E7C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7512" y="2256630"/>
              <a:ext cx="388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dirty="0"/>
            </a:p>
          </p:txBody>
        </p:sp>
        <p:sp>
          <p:nvSpPr>
            <p:cNvPr id="73" name="Line 29">
              <a:extLst>
                <a:ext uri="{FF2B5EF4-FFF2-40B4-BE49-F238E27FC236}">
                  <a16:creationId xmlns:a16="http://schemas.microsoft.com/office/drawing/2014/main" id="{D1F6AD3F-2FC1-F05D-B036-49344D7B0C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6712" y="280193"/>
              <a:ext cx="0" cy="19764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" name="Line 30">
              <a:extLst>
                <a:ext uri="{FF2B5EF4-FFF2-40B4-BE49-F238E27FC236}">
                  <a16:creationId xmlns:a16="http://schemas.microsoft.com/office/drawing/2014/main" id="{45F3C273-E758-5D78-A15A-F0B20576CA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16912" y="280193"/>
              <a:ext cx="0" cy="19764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EDF11962-3A2F-7685-0C31-F8509278BD6E}"/>
              </a:ext>
            </a:extLst>
          </p:cNvPr>
          <p:cNvSpPr txBox="1"/>
          <p:nvPr/>
        </p:nvSpPr>
        <p:spPr>
          <a:xfrm>
            <a:off x="1374179" y="6282454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结论：木工资源的影子价格为</a:t>
            </a:r>
            <a:r>
              <a:rPr lang="en-US" altLang="zh-CN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2</a:t>
            </a:r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。</a:t>
            </a:r>
            <a:endParaRPr lang="zh-CN" altLang="en-US" sz="2400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3380081-BBD6-4B46-E100-3EB79F884613}"/>
                  </a:ext>
                </a:extLst>
              </p:cNvPr>
              <p:cNvSpPr txBox="1"/>
              <p:nvPr/>
            </p:nvSpPr>
            <p:spPr>
              <a:xfrm>
                <a:off x="362526" y="3285628"/>
                <a:ext cx="6134986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altLang="zh-CN" sz="24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=56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+30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&amp;4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≤120</m:t>
                              </m:r>
                            </m:e>
                            <m:e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&amp;2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≤50</m:t>
                              </m:r>
                            </m:e>
                            <m:e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3380081-BBD6-4B46-E100-3EB79F884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26" y="3285628"/>
                <a:ext cx="6134986" cy="164077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95F2FA9-8D55-9F2D-08C6-C5B779C62A43}"/>
                  </a:ext>
                </a:extLst>
              </p:cNvPr>
              <p:cNvSpPr txBox="1"/>
              <p:nvPr/>
            </p:nvSpPr>
            <p:spPr>
              <a:xfrm>
                <a:off x="5030219" y="3290866"/>
                <a:ext cx="6134986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altLang="zh-CN" sz="24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=56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+30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&amp;4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≤12</m:t>
                              </m:r>
                              <m: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&amp;2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≤50</m:t>
                              </m:r>
                            </m:e>
                            <m:e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95F2FA9-8D55-9F2D-08C6-C5B779C62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0219" y="3290866"/>
                <a:ext cx="6134986" cy="164077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5731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57" grpId="0"/>
      <p:bldP spid="5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5">
            <a:extLst>
              <a:ext uri="{FF2B5EF4-FFF2-40B4-BE49-F238E27FC236}">
                <a16:creationId xmlns:a16="http://schemas.microsoft.com/office/drawing/2014/main" id="{824C07BB-4ACE-4C98-AB53-FB60B772B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6912" y="1861343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8D0B59F2-54C9-4552-868C-BE093925C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8712" y="1861343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30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23162664-ED36-4A56-B622-05D8EFD15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6712" y="1861343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56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729D44D3-C036-4A73-8F18-E326C86B3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7512" y="1861343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收入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9C9EEF54-BDFA-47CC-85E5-BA954944D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7766" y="1275309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en-US" altLang="zh-CN" sz="2000" dirty="0">
                <a:solidFill>
                  <a:srgbClr val="C00000"/>
                </a:solidFill>
                <a:latin typeface="宋体" panose="02010600030101010101" pitchFamily="2" charset="-122"/>
              </a:rPr>
              <a:t>51</a:t>
            </a:r>
            <a:r>
              <a:rPr lang="zh-CN" altLang="en-US" sz="2000" dirty="0">
                <a:solidFill>
                  <a:srgbClr val="C00000"/>
                </a:solidFill>
                <a:latin typeface="宋体" panose="02010600030101010101" pitchFamily="2" charset="-122"/>
              </a:rPr>
              <a:t>小时</a:t>
            </a: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ED935535-58F0-4F9E-9A09-8C0C707A7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6039" y="1261269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38012CDC-D4AC-45D0-B78D-E6CF36A04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365" y="1275309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FAB4772E-FBCC-4B55-BAC9-DD619B175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2165" y="1260829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油漆工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53D407B5-434B-4CA0-8186-0B6E82553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7770" y="833883"/>
            <a:ext cx="1260231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120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小时</a:t>
            </a:r>
            <a:r>
              <a:rPr lang="zh-CN" altLang="en-US" sz="2000" dirty="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88D57780-4939-4CE6-95E8-9503764A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6815" y="778686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3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1" name="Rectangle 19">
            <a:extLst>
              <a:ext uri="{FF2B5EF4-FFF2-40B4-BE49-F238E27FC236}">
                <a16:creationId xmlns:a16="http://schemas.microsoft.com/office/drawing/2014/main" id="{BBD5C7EB-C61B-4EA8-B909-6FAC51B86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4298" y="776358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4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2" name="Rectangle 20">
            <a:extLst>
              <a:ext uri="{FF2B5EF4-FFF2-40B4-BE49-F238E27FC236}">
                <a16:creationId xmlns:a16="http://schemas.microsoft.com/office/drawing/2014/main" id="{AEABCF8E-C157-41EC-A253-327AF3718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7512" y="764664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23" name="Rectangle 21">
            <a:extLst>
              <a:ext uri="{FF2B5EF4-FFF2-40B4-BE49-F238E27FC236}">
                <a16:creationId xmlns:a16="http://schemas.microsoft.com/office/drawing/2014/main" id="{EB4B490B-44FC-4E0C-8537-6BF61AF9C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6912" y="280193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限制</a:t>
            </a:r>
            <a:r>
              <a:rPr lang="zh-CN" altLang="en-US" sz="200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8DC106F7-5120-41B3-93B2-34F327686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8712" y="280193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木窗</a:t>
            </a: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8B2C28C3-3483-49AF-BE23-9278D13BA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6712" y="280193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木门</a:t>
            </a:r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B6A2B8B6-1F68-498C-911C-7C4A3A48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7512" y="280193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F886FA5A-2766-4149-B74A-3F92BB1A3A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7512" y="280193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391BEC70-F2B8-4195-9157-FE61D2F400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7512" y="675480"/>
            <a:ext cx="38862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98DDA112-BCA8-4D5C-B1E0-58BBB17B1D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7512" y="1861343"/>
            <a:ext cx="38862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B48F33CD-BAE0-4AE4-BFF5-9F893857BA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7512" y="2256630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dirty="0"/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A49BBB22-6102-4350-96B1-24A1A877B9DF}"/>
              </a:ext>
            </a:extLst>
          </p:cNvPr>
          <p:cNvSpPr>
            <a:spLocks noChangeShapeType="1"/>
          </p:cNvSpPr>
          <p:nvPr/>
        </p:nvSpPr>
        <p:spPr bwMode="auto">
          <a:xfrm>
            <a:off x="7716712" y="280193"/>
            <a:ext cx="0" cy="1976438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3EBF58A2-B9AF-42C5-9CCA-22789FC70E43}"/>
              </a:ext>
            </a:extLst>
          </p:cNvPr>
          <p:cNvSpPr>
            <a:spLocks noChangeShapeType="1"/>
          </p:cNvSpPr>
          <p:nvPr/>
        </p:nvSpPr>
        <p:spPr bwMode="auto">
          <a:xfrm>
            <a:off x="9316912" y="280193"/>
            <a:ext cx="0" cy="1976438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DC31825-966E-47F9-A3F1-25E7DB209AA2}"/>
                  </a:ext>
                </a:extLst>
              </p:cNvPr>
              <p:cNvSpPr txBox="1"/>
              <p:nvPr/>
            </p:nvSpPr>
            <p:spPr>
              <a:xfrm>
                <a:off x="1858086" y="2536310"/>
                <a:ext cx="7933984" cy="5057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设每日生产木门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扇，木窗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扇，</a:t>
                </a:r>
                <a:r>
                  <a:rPr lang="zh-CN" altLang="en-US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分别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建立数学模型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DC31825-966E-47F9-A3F1-25E7DB209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086" y="2536310"/>
                <a:ext cx="7933984" cy="505779"/>
              </a:xfrm>
              <a:prstGeom prst="rect">
                <a:avLst/>
              </a:prstGeom>
              <a:blipFill>
                <a:blip r:embed="rId7"/>
                <a:stretch>
                  <a:fillRect l="-1280" t="-7317" b="-2195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5">
            <a:extLst>
              <a:ext uri="{FF2B5EF4-FFF2-40B4-BE49-F238E27FC236}">
                <a16:creationId xmlns:a16="http://schemas.microsoft.com/office/drawing/2014/main" id="{91A88EE7-AF77-4B41-A40E-9A7EF7742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399" y="1969782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36" name="Rectangle 6">
            <a:extLst>
              <a:ext uri="{FF2B5EF4-FFF2-40B4-BE49-F238E27FC236}">
                <a16:creationId xmlns:a16="http://schemas.microsoft.com/office/drawing/2014/main" id="{15B62E6A-205C-436A-8A8C-9F991DA0B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9199" y="1969782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30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7" name="Rectangle 7">
            <a:extLst>
              <a:ext uri="{FF2B5EF4-FFF2-40B4-BE49-F238E27FC236}">
                <a16:creationId xmlns:a16="http://schemas.microsoft.com/office/drawing/2014/main" id="{A5E2E3E2-203A-4C3B-8FC9-6CCB0A043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199" y="1969782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56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9CA50F4D-AF23-4965-98AE-3ACEFD964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7999" y="1969782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收入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39" name="Rectangle 13">
            <a:extLst>
              <a:ext uri="{FF2B5EF4-FFF2-40B4-BE49-F238E27FC236}">
                <a16:creationId xmlns:a16="http://schemas.microsoft.com/office/drawing/2014/main" id="{027B5EF2-317D-4BAD-8760-80E039DB5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53" y="1383748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en-US" altLang="zh-CN" sz="2000" dirty="0">
                <a:solidFill>
                  <a:srgbClr val="C00000"/>
                </a:solidFill>
                <a:latin typeface="宋体" panose="02010600030101010101" pitchFamily="2" charset="-122"/>
              </a:rPr>
              <a:t>50</a:t>
            </a:r>
            <a:r>
              <a:rPr lang="zh-CN" altLang="en-US" sz="2000" dirty="0">
                <a:solidFill>
                  <a:srgbClr val="C00000"/>
                </a:solidFill>
                <a:latin typeface="宋体" panose="02010600030101010101" pitchFamily="2" charset="-122"/>
              </a:rPr>
              <a:t>小时</a:t>
            </a:r>
          </a:p>
        </p:txBody>
      </p:sp>
      <p:sp>
        <p:nvSpPr>
          <p:cNvPr id="40" name="Rectangle 14">
            <a:extLst>
              <a:ext uri="{FF2B5EF4-FFF2-40B4-BE49-F238E27FC236}">
                <a16:creationId xmlns:a16="http://schemas.microsoft.com/office/drawing/2014/main" id="{1D9B85B2-0573-42A0-BA90-93CDCC33A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6526" y="1369708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1" name="Rectangle 15">
            <a:extLst>
              <a:ext uri="{FF2B5EF4-FFF2-40B4-BE49-F238E27FC236}">
                <a16:creationId xmlns:a16="http://schemas.microsoft.com/office/drawing/2014/main" id="{18E5351C-39F3-4778-9333-44DEE7DD0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1852" y="1383748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2" name="Rectangle 16">
            <a:extLst>
              <a:ext uri="{FF2B5EF4-FFF2-40B4-BE49-F238E27FC236}">
                <a16:creationId xmlns:a16="http://schemas.microsoft.com/office/drawing/2014/main" id="{748D34D0-C5E2-4D30-A6BD-44C2D5C6F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2652" y="1369268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油漆工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43" name="Rectangle 17">
            <a:extLst>
              <a:ext uri="{FF2B5EF4-FFF2-40B4-BE49-F238E27FC236}">
                <a16:creationId xmlns:a16="http://schemas.microsoft.com/office/drawing/2014/main" id="{4A9708AC-DC2A-465A-96E5-39CFB651B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57" y="942322"/>
            <a:ext cx="1260231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120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小时</a:t>
            </a:r>
            <a:r>
              <a:rPr lang="zh-CN" altLang="en-US" sz="2000" dirty="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44" name="Rectangle 18">
            <a:extLst>
              <a:ext uri="{FF2B5EF4-FFF2-40B4-BE49-F238E27FC236}">
                <a16:creationId xmlns:a16="http://schemas.microsoft.com/office/drawing/2014/main" id="{330FD3AF-9E9E-4CD9-801E-2B80BD93C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7302" y="887125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3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5" name="Rectangle 19">
            <a:extLst>
              <a:ext uri="{FF2B5EF4-FFF2-40B4-BE49-F238E27FC236}">
                <a16:creationId xmlns:a16="http://schemas.microsoft.com/office/drawing/2014/main" id="{251AF30A-31ED-4077-89D0-1F8FC281E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4785" y="884797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4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6" name="Rectangle 20">
            <a:extLst>
              <a:ext uri="{FF2B5EF4-FFF2-40B4-BE49-F238E27FC236}">
                <a16:creationId xmlns:a16="http://schemas.microsoft.com/office/drawing/2014/main" id="{948E51C5-E081-4B48-AF1D-EB4E58055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7999" y="873103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木工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47" name="Rectangle 21">
            <a:extLst>
              <a:ext uri="{FF2B5EF4-FFF2-40B4-BE49-F238E27FC236}">
                <a16:creationId xmlns:a16="http://schemas.microsoft.com/office/drawing/2014/main" id="{E1468A2D-4A42-4C01-9BAC-EE0570AF0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399" y="388632"/>
            <a:ext cx="10668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限制</a:t>
            </a:r>
            <a:r>
              <a:rPr lang="zh-CN" altLang="en-US" sz="200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48" name="Rectangle 22">
            <a:extLst>
              <a:ext uri="{FF2B5EF4-FFF2-40B4-BE49-F238E27FC236}">
                <a16:creationId xmlns:a16="http://schemas.microsoft.com/office/drawing/2014/main" id="{533C9148-42CA-4A08-979C-EDA4F5DBE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9199" y="388632"/>
            <a:ext cx="838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木窗</a:t>
            </a:r>
          </a:p>
        </p:txBody>
      </p:sp>
      <p:sp>
        <p:nvSpPr>
          <p:cNvPr id="49" name="Rectangle 23">
            <a:extLst>
              <a:ext uri="{FF2B5EF4-FFF2-40B4-BE49-F238E27FC236}">
                <a16:creationId xmlns:a16="http://schemas.microsoft.com/office/drawing/2014/main" id="{6AD4A880-FE62-4610-A4D3-F4D2DF0DC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199" y="388632"/>
            <a:ext cx="762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木门</a:t>
            </a:r>
          </a:p>
        </p:txBody>
      </p:sp>
      <p:sp>
        <p:nvSpPr>
          <p:cNvPr id="50" name="Rectangle 24">
            <a:extLst>
              <a:ext uri="{FF2B5EF4-FFF2-40B4-BE49-F238E27FC236}">
                <a16:creationId xmlns:a16="http://schemas.microsoft.com/office/drawing/2014/main" id="{E955CFF3-3E1B-451D-8CE6-A64C1DC89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7999" y="388632"/>
            <a:ext cx="121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51" name="Line 25">
            <a:extLst>
              <a:ext uri="{FF2B5EF4-FFF2-40B4-BE49-F238E27FC236}">
                <a16:creationId xmlns:a16="http://schemas.microsoft.com/office/drawing/2014/main" id="{CCCD22BD-9D70-4D9D-A99F-CECE78A29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999" y="388632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2" name="Line 26">
            <a:extLst>
              <a:ext uri="{FF2B5EF4-FFF2-40B4-BE49-F238E27FC236}">
                <a16:creationId xmlns:a16="http://schemas.microsoft.com/office/drawing/2014/main" id="{F93AD4B8-6DE6-4E20-842F-220ACA0F02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999" y="783919"/>
            <a:ext cx="38862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" name="Line 27">
            <a:extLst>
              <a:ext uri="{FF2B5EF4-FFF2-40B4-BE49-F238E27FC236}">
                <a16:creationId xmlns:a16="http://schemas.microsoft.com/office/drawing/2014/main" id="{EF2EA49E-0D6B-47E3-863E-A07F0BD964F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999" y="1969782"/>
            <a:ext cx="38862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4" name="Line 28">
            <a:extLst>
              <a:ext uri="{FF2B5EF4-FFF2-40B4-BE49-F238E27FC236}">
                <a16:creationId xmlns:a16="http://schemas.microsoft.com/office/drawing/2014/main" id="{E3DC134B-F895-48DC-A728-6414B22DF2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999" y="2365069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dirty="0"/>
          </a:p>
        </p:txBody>
      </p:sp>
      <p:sp>
        <p:nvSpPr>
          <p:cNvPr id="55" name="Line 29">
            <a:extLst>
              <a:ext uri="{FF2B5EF4-FFF2-40B4-BE49-F238E27FC236}">
                <a16:creationId xmlns:a16="http://schemas.microsoft.com/office/drawing/2014/main" id="{887A8FA8-3454-40AD-9291-61A2516362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7199" y="388632"/>
            <a:ext cx="0" cy="1976438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" name="Line 30">
            <a:extLst>
              <a:ext uri="{FF2B5EF4-FFF2-40B4-BE49-F238E27FC236}">
                <a16:creationId xmlns:a16="http://schemas.microsoft.com/office/drawing/2014/main" id="{4FB72925-38D4-4F5E-BB8F-DFAA6CFE3E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399" y="388632"/>
            <a:ext cx="0" cy="1976438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ED702EB6-5819-4C48-B8B5-C32158FE8B7F}"/>
                  </a:ext>
                </a:extLst>
              </p:cNvPr>
              <p:cNvSpPr txBox="1"/>
              <p:nvPr/>
            </p:nvSpPr>
            <p:spPr>
              <a:xfrm>
                <a:off x="1808282" y="5243420"/>
                <a:ext cx="590843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求得最优解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=15, </m:t>
                    </m:r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=20, </m:t>
                    </m:r>
                  </m:oMath>
                </a14:m>
                <a:endParaRPr lang="en-US" altLang="zh-CN" sz="2400" i="1" kern="100" dirty="0"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=1440</m:t>
                    </m:r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ED702EB6-5819-4C48-B8B5-C32158FE8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282" y="5243420"/>
                <a:ext cx="5908431" cy="830997"/>
              </a:xfrm>
              <a:prstGeom prst="rect">
                <a:avLst/>
              </a:prstGeom>
              <a:blipFill>
                <a:blip r:embed="rId8"/>
                <a:stretch>
                  <a:fillRect l="-1717" t="-7463" b="-1492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F9BFCFBE-7393-43C5-A0A5-904945E6A2D9}"/>
                  </a:ext>
                </a:extLst>
              </p:cNvPr>
              <p:cNvSpPr txBox="1"/>
              <p:nvPr/>
            </p:nvSpPr>
            <p:spPr>
              <a:xfrm>
                <a:off x="6296756" y="5219434"/>
                <a:ext cx="428771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求得最优解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=16.5, </m:t>
                    </m:r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=18, </m:t>
                    </m:r>
                  </m:oMath>
                </a14:m>
                <a:endParaRPr lang="en-US" altLang="zh-CN" sz="2400" i="1" kern="100" dirty="0"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=1464</m:t>
                    </m:r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F9BFCFBE-7393-43C5-A0A5-904945E6A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756" y="5219434"/>
                <a:ext cx="4287712" cy="830997"/>
              </a:xfrm>
              <a:prstGeom prst="rect">
                <a:avLst/>
              </a:prstGeom>
              <a:blipFill>
                <a:blip r:embed="rId9"/>
                <a:stretch>
                  <a:fillRect l="-2065" t="-7463" r="-590" b="-1492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3B31438C-E51B-2296-A971-F547A7E4B7C1}"/>
              </a:ext>
            </a:extLst>
          </p:cNvPr>
          <p:cNvSpPr txBox="1"/>
          <p:nvPr/>
        </p:nvSpPr>
        <p:spPr>
          <a:xfrm>
            <a:off x="1715237" y="6238535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结论：油漆工资源的影子价格为</a:t>
            </a:r>
            <a:r>
              <a:rPr lang="en-US" altLang="zh-CN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24</a:t>
            </a:r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。</a:t>
            </a:r>
            <a:endParaRPr lang="zh-CN" altLang="en-US" sz="2400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6799A5-D59E-0247-CBD5-43910EC2AF54}"/>
                  </a:ext>
                </a:extLst>
              </p:cNvPr>
              <p:cNvSpPr txBox="1"/>
              <p:nvPr/>
            </p:nvSpPr>
            <p:spPr>
              <a:xfrm>
                <a:off x="896359" y="3230193"/>
                <a:ext cx="6134986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altLang="zh-CN" sz="24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=56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+30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&amp;4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≤120</m:t>
                              </m:r>
                            </m:e>
                            <m:e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&amp;2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≤50</m:t>
                              </m:r>
                            </m:e>
                            <m:e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6799A5-D59E-0247-CBD5-43910EC2A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59" y="3230193"/>
                <a:ext cx="6134986" cy="164077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0FE4F5-5B7C-7E3E-BBC5-A9B28366D5AA}"/>
                  </a:ext>
                </a:extLst>
              </p:cNvPr>
              <p:cNvSpPr txBox="1"/>
              <p:nvPr/>
            </p:nvSpPr>
            <p:spPr>
              <a:xfrm>
                <a:off x="5508372" y="3249633"/>
                <a:ext cx="6134986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altLang="zh-CN" sz="24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=56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+30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&amp;4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≤120</m:t>
                              </m:r>
                            </m:e>
                            <m:e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&amp;2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≤5</m:t>
                              </m:r>
                              <m: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0FE4F5-5B7C-7E3E-BBC5-A9B28366D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372" y="3249633"/>
                <a:ext cx="6134986" cy="164077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5972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57" grpId="0"/>
      <p:bldP spid="5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D4BB4BF-505D-ECFD-FF17-AD5A61296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887" y="3429001"/>
            <a:ext cx="4442349" cy="299724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05B6443-2E2D-01BB-885A-0A851F50C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92" y="281032"/>
            <a:ext cx="4248150" cy="30289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66184C0-4D0D-C7F4-6049-682D4C3BD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492" y="3429000"/>
            <a:ext cx="4562475" cy="32575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B3640C9-CAF0-E551-E87A-39EC4B988A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169" y="144256"/>
            <a:ext cx="4060007" cy="286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55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52B5F83-09A3-4D6C-B5CD-D263D117D8B2}"/>
              </a:ext>
            </a:extLst>
          </p:cNvPr>
          <p:cNvSpPr txBox="1"/>
          <p:nvPr/>
        </p:nvSpPr>
        <p:spPr>
          <a:xfrm>
            <a:off x="1125604" y="449946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综上，对于这个目标最大化的线性规划问题</a:t>
            </a:r>
            <a:endParaRPr lang="zh-CN" altLang="en-US" sz="2400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6D4D18-2520-3600-D6C5-46925E0F867B}"/>
              </a:ext>
            </a:extLst>
          </p:cNvPr>
          <p:cNvSpPr txBox="1"/>
          <p:nvPr/>
        </p:nvSpPr>
        <p:spPr>
          <a:xfrm>
            <a:off x="1125603" y="3083089"/>
            <a:ext cx="91813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它的两种资源的影子价格分别为</a:t>
            </a:r>
            <a:r>
              <a:rPr lang="en-US" altLang="zh-CN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2</a:t>
            </a:r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和</a:t>
            </a:r>
            <a:r>
              <a:rPr lang="en-US" altLang="zh-CN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24</a:t>
            </a:r>
            <a:r>
              <a:rPr lang="zh-CN" altLang="en-US" sz="2400" dirty="0">
                <a:solidFill>
                  <a:srgbClr val="33333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，恰巧是其对偶问题</a:t>
            </a:r>
            <a:endParaRPr lang="zh-CN" altLang="en-US" sz="2400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F102E0F-C77B-B725-BBB6-D9E272AA3AAB}"/>
                  </a:ext>
                </a:extLst>
              </p:cNvPr>
              <p:cNvSpPr txBox="1"/>
              <p:nvPr/>
            </p:nvSpPr>
            <p:spPr>
              <a:xfrm>
                <a:off x="1200436" y="5889386"/>
                <a:ext cx="69936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en-US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最优解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=2, </m:t>
                    </m:r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=24</m:t>
                    </m:r>
                  </m:oMath>
                </a14:m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F102E0F-C77B-B725-BBB6-D9E272AA3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436" y="5889386"/>
                <a:ext cx="6993653" cy="461665"/>
              </a:xfrm>
              <a:prstGeom prst="rect">
                <a:avLst/>
              </a:prstGeom>
              <a:blipFill>
                <a:blip r:embed="rId2"/>
                <a:stretch>
                  <a:fillRect l="-1449" t="-13158" b="-2631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B450C6-B18A-1A63-AD97-2DA05BE02FB2}"/>
                  </a:ext>
                </a:extLst>
              </p:cNvPr>
              <p:cNvSpPr txBox="1"/>
              <p:nvPr/>
            </p:nvSpPr>
            <p:spPr>
              <a:xfrm>
                <a:off x="2915652" y="3896685"/>
                <a:ext cx="6097772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altLang="zh-CN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CN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CN" altLang="zh-CN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=120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N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N" altLang="zh-CN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+50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N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zh-CN" sz="24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&amp;4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≥56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≥30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B450C6-B18A-1A63-AD97-2DA05BE02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652" y="3896685"/>
                <a:ext cx="6097772" cy="16407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758968-35D0-D049-3F54-49F31F6B22A9}"/>
                  </a:ext>
                </a:extLst>
              </p:cNvPr>
              <p:cNvSpPr txBox="1"/>
              <p:nvPr/>
            </p:nvSpPr>
            <p:spPr>
              <a:xfrm>
                <a:off x="2878438" y="1158598"/>
                <a:ext cx="6134986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altLang="zh-CN" sz="24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=56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+30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&amp;4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≤120</m:t>
                              </m:r>
                            </m:e>
                            <m:e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&amp;2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≤50</m:t>
                              </m:r>
                            </m:e>
                            <m:e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758968-35D0-D049-3F54-49F31F6B2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438" y="1158598"/>
                <a:ext cx="6134986" cy="16407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3521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4E45088-F2CD-C604-A77D-668A826B3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322024"/>
            <a:ext cx="9144000" cy="393622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BC3D765-5597-9C65-0E7A-D8069F5FA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472" y="0"/>
            <a:ext cx="3910321" cy="202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070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650213B-6E25-451F-8217-32B2E4094444}"/>
              </a:ext>
            </a:extLst>
          </p:cNvPr>
          <p:cNvSpPr txBox="1"/>
          <p:nvPr/>
        </p:nvSpPr>
        <p:spPr>
          <a:xfrm>
            <a:off x="768558" y="279929"/>
            <a:ext cx="5152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二、对称形式的对偶关系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F5EFF14-6556-4DC5-840D-6BC2152D1D17}"/>
              </a:ext>
            </a:extLst>
          </p:cNvPr>
          <p:cNvSpPr txBox="1"/>
          <p:nvPr/>
        </p:nvSpPr>
        <p:spPr>
          <a:xfrm>
            <a:off x="1174187" y="1427293"/>
            <a:ext cx="2250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原问题：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73B36EB-F5E2-42D7-A739-8BF5471E0B30}"/>
              </a:ext>
            </a:extLst>
          </p:cNvPr>
          <p:cNvSpPr txBox="1"/>
          <p:nvPr/>
        </p:nvSpPr>
        <p:spPr>
          <a:xfrm>
            <a:off x="1174187" y="3555023"/>
            <a:ext cx="2591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对偶问题：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FB9AE3A-DF3A-C2ED-2A88-59766073477E}"/>
              </a:ext>
            </a:extLst>
          </p:cNvPr>
          <p:cNvCxnSpPr/>
          <p:nvPr/>
        </p:nvCxnSpPr>
        <p:spPr>
          <a:xfrm>
            <a:off x="7143565" y="541539"/>
            <a:ext cx="0" cy="551303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6A21477-1150-CFFF-AB0D-8573D5543092}"/>
              </a:ext>
            </a:extLst>
          </p:cNvPr>
          <p:cNvSpPr txBox="1"/>
          <p:nvPr/>
        </p:nvSpPr>
        <p:spPr>
          <a:xfrm>
            <a:off x="7586791" y="743985"/>
            <a:ext cx="2178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例如：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85259B-38E9-8CD5-B3E0-628A3BC5CC2C}"/>
                  </a:ext>
                </a:extLst>
              </p:cNvPr>
              <p:cNvSpPr txBox="1"/>
              <p:nvPr/>
            </p:nvSpPr>
            <p:spPr>
              <a:xfrm>
                <a:off x="861434" y="2014195"/>
                <a:ext cx="6099348" cy="1285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CN" sz="2400" i="1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CN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85259B-38E9-8CD5-B3E0-628A3BC5C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34" y="2014195"/>
                <a:ext cx="6099348" cy="12854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DEB77F-0B59-CA32-1F4D-36F00BA7616D}"/>
                  </a:ext>
                </a:extLst>
              </p:cNvPr>
              <p:cNvSpPr txBox="1"/>
              <p:nvPr/>
            </p:nvSpPr>
            <p:spPr>
              <a:xfrm>
                <a:off x="952826" y="4510721"/>
                <a:ext cx="6099348" cy="1285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CN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DEB77F-0B59-CA32-1F4D-36F00BA76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26" y="4510721"/>
                <a:ext cx="6099348" cy="12854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2108B63-9813-D742-A783-62CF2C69FCCC}"/>
                  </a:ext>
                </a:extLst>
              </p:cNvPr>
              <p:cNvSpPr txBox="1"/>
              <p:nvPr/>
            </p:nvSpPr>
            <p:spPr>
              <a:xfrm>
                <a:off x="6170334" y="1526894"/>
                <a:ext cx="6097772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=120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+50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&amp;4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≥56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≥30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2108B63-9813-D742-A783-62CF2C69F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334" y="1526894"/>
                <a:ext cx="6097772" cy="16407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C35EB43-FCCD-82C1-B69D-EC9FD8036B8E}"/>
                  </a:ext>
                </a:extLst>
              </p:cNvPr>
              <p:cNvSpPr txBox="1"/>
              <p:nvPr/>
            </p:nvSpPr>
            <p:spPr>
              <a:xfrm>
                <a:off x="6170334" y="4169973"/>
                <a:ext cx="6134986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=56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+30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&amp;4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≤120</m:t>
                              </m:r>
                            </m:e>
                            <m:e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&amp;2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≤50</m:t>
                              </m:r>
                            </m:e>
                            <m:e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C35EB43-FCCD-82C1-B69D-EC9FD8036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334" y="4169973"/>
                <a:ext cx="6134986" cy="16407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>
            <a:extLst>
              <a:ext uri="{FF2B5EF4-FFF2-40B4-BE49-F238E27FC236}">
                <a16:creationId xmlns:a16="http://schemas.microsoft.com/office/drawing/2014/main" id="{6BD092EF-7FA7-4830-A69A-262C6E80EB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45723" y="536575"/>
            <a:ext cx="10209321" cy="5360988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FontTx/>
              <a:buNone/>
            </a:pPr>
            <a:r>
              <a:rPr lang="zh-CN" altLang="en-US" sz="2400" dirty="0"/>
              <a:t>　　 </a:t>
            </a:r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至于其他形式的线性规划问题，首先将原问题化成对称形式的原问题，再依照对称形式的对偶关系的定义写出对偶问题。根据这一原则，可以证明：</a:t>
            </a:r>
            <a:r>
              <a:rPr lang="zh-CN" altLang="en-US" sz="2400" b="1" u="sng" dirty="0">
                <a:solidFill>
                  <a:srgbClr val="FF3300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原问题与对偶问题是互为对偶的。</a:t>
            </a:r>
            <a:endParaRPr lang="zh-CN" altLang="en-US" sz="2400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7CB7C6C-F1AE-A930-5373-92E5128C22C9}"/>
                  </a:ext>
                </a:extLst>
              </p:cNvPr>
              <p:cNvSpPr txBox="1"/>
              <p:nvPr/>
            </p:nvSpPr>
            <p:spPr>
              <a:xfrm>
                <a:off x="-26622" y="2399655"/>
                <a:ext cx="6099348" cy="1285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altLang="zh-CN" sz="24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CN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7CB7C6C-F1AE-A930-5373-92E5128C2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622" y="2399655"/>
                <a:ext cx="6099348" cy="12854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7AF406-D503-4468-A87C-33D5DC591323}"/>
                  </a:ext>
                </a:extLst>
              </p:cNvPr>
              <p:cNvSpPr txBox="1"/>
              <p:nvPr/>
            </p:nvSpPr>
            <p:spPr>
              <a:xfrm>
                <a:off x="6274262" y="2285623"/>
                <a:ext cx="6099348" cy="1285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m:rPr>
                              <m:nor/>
                            </m:rPr>
                            <a:rPr lang="en-CN" altLang="zh-CN" sz="2400" dirty="0"/>
                            <m:t> 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CN" sz="2400" i="1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CN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7AF406-D503-4468-A87C-33D5DC591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262" y="2285623"/>
                <a:ext cx="6099348" cy="12854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41DB83-B522-949F-EEC8-908F1C45BAD6}"/>
                  </a:ext>
                </a:extLst>
              </p:cNvPr>
              <p:cNvSpPr txBox="1"/>
              <p:nvPr/>
            </p:nvSpPr>
            <p:spPr>
              <a:xfrm>
                <a:off x="-65706" y="4361487"/>
                <a:ext cx="6177516" cy="1285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CN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CN" altLang="zh-CN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CN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sz="24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CN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41DB83-B522-949F-EEC8-908F1C45B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5706" y="4361487"/>
                <a:ext cx="6177516" cy="12854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Arrow 11">
            <a:extLst>
              <a:ext uri="{FF2B5EF4-FFF2-40B4-BE49-F238E27FC236}">
                <a16:creationId xmlns:a16="http://schemas.microsoft.com/office/drawing/2014/main" id="{56A9BB13-7C8F-4656-EDA8-D1CDFEFD3AC5}"/>
              </a:ext>
            </a:extLst>
          </p:cNvPr>
          <p:cNvSpPr/>
          <p:nvPr/>
        </p:nvSpPr>
        <p:spPr>
          <a:xfrm>
            <a:off x="4348716" y="4965944"/>
            <a:ext cx="340242" cy="1944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3C6D973-62FB-D0D5-14B5-B4338808510A}"/>
                  </a:ext>
                </a:extLst>
              </p:cNvPr>
              <p:cNvSpPr txBox="1"/>
              <p:nvPr/>
            </p:nvSpPr>
            <p:spPr>
              <a:xfrm>
                <a:off x="3236713" y="4486596"/>
                <a:ext cx="6099348" cy="1285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N" sz="2400" i="1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en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N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3C6D973-62FB-D0D5-14B5-B43388085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713" y="4486596"/>
                <a:ext cx="6099348" cy="12854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8D97F7-6E43-9EA1-04FE-E137A4DDE42B}"/>
                  </a:ext>
                </a:extLst>
              </p:cNvPr>
              <p:cNvSpPr txBox="1"/>
              <p:nvPr/>
            </p:nvSpPr>
            <p:spPr>
              <a:xfrm>
                <a:off x="8810839" y="4663866"/>
                <a:ext cx="1348511" cy="49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b="0" dirty="0"/>
                  <a:t>令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CN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8D97F7-6E43-9EA1-04FE-E137A4DDE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839" y="4663866"/>
                <a:ext cx="1348511" cy="496546"/>
              </a:xfrm>
              <a:prstGeom prst="rect">
                <a:avLst/>
              </a:prstGeom>
              <a:blipFill>
                <a:blip r:embed="rId6"/>
                <a:stretch>
                  <a:fillRect l="-13514" r="-2252" b="-378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Arrow 11">
            <a:extLst>
              <a:ext uri="{FF2B5EF4-FFF2-40B4-BE49-F238E27FC236}">
                <a16:creationId xmlns:a16="http://schemas.microsoft.com/office/drawing/2014/main" id="{191CC924-4BEF-86E6-0FB3-3B66740B6334}"/>
              </a:ext>
            </a:extLst>
          </p:cNvPr>
          <p:cNvSpPr/>
          <p:nvPr/>
        </p:nvSpPr>
        <p:spPr>
          <a:xfrm rot="5400000">
            <a:off x="2824007" y="3898962"/>
            <a:ext cx="398089" cy="192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Right Arrow 11">
            <a:extLst>
              <a:ext uri="{FF2B5EF4-FFF2-40B4-BE49-F238E27FC236}">
                <a16:creationId xmlns:a16="http://schemas.microsoft.com/office/drawing/2014/main" id="{61F4EB47-3654-2AAC-5C32-0937D01F5E45}"/>
              </a:ext>
            </a:extLst>
          </p:cNvPr>
          <p:cNvSpPr/>
          <p:nvPr/>
        </p:nvSpPr>
        <p:spPr>
          <a:xfrm>
            <a:off x="7965459" y="5032102"/>
            <a:ext cx="340242" cy="1944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Right Arrow 11">
            <a:extLst>
              <a:ext uri="{FF2B5EF4-FFF2-40B4-BE49-F238E27FC236}">
                <a16:creationId xmlns:a16="http://schemas.microsoft.com/office/drawing/2014/main" id="{733CED8F-257E-5726-8BCD-809FC4A6D3C7}"/>
              </a:ext>
            </a:extLst>
          </p:cNvPr>
          <p:cNvSpPr/>
          <p:nvPr/>
        </p:nvSpPr>
        <p:spPr>
          <a:xfrm rot="16200000">
            <a:off x="9251049" y="3938412"/>
            <a:ext cx="340242" cy="1944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27E0AF99-B8CB-319A-E1D3-6C7DBAF98A9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942336" y="100325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>
                      <a:extLst>
                        <a:ext uri="{9D8B030D-6E8A-4147-A177-3AD203B41FA5}">
                          <a16:colId xmlns:a16="http://schemas.microsoft.com/office/drawing/2014/main" val="1338483454"/>
                        </a:ext>
                      </a:extLst>
                    </a:gridCol>
                    <a:gridCol w="2543453">
                      <a:extLst>
                        <a:ext uri="{9D8B030D-6E8A-4147-A177-3AD203B41FA5}">
                          <a16:colId xmlns:a16="http://schemas.microsoft.com/office/drawing/2014/main" val="17825790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CN" altLang="zh-CN" sz="240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fName>
                                  <m:e>
                                    <m:r>
                                      <a:rPr lang="en-CN" altLang="zh-CN" sz="240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CN" altLang="zh-CN" sz="2400" i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CN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CN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𝐴𝑥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≥0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CN" altLang="zh-CN" sz="240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r>
                                      <a:rPr lang="en-CN" altLang="zh-CN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CN" altLang="zh-CN" sz="240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CN" altLang="zh-CN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CN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sSup>
                                          <m:sSupPr>
                                            <m:ctrlPr>
                                              <a:rPr lang="en-CN" altLang="zh-CN" sz="24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CN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p>
                                            <m:r>
                                              <a:rPr lang="en-CN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≤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≥0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CN" altLang="zh-C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7568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27E0AF99-B8CB-319A-E1D3-6C7DBAF98A9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942336" y="100325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>
                      <a:extLst>
                        <a:ext uri="{9D8B030D-6E8A-4147-A177-3AD203B41FA5}">
                          <a16:colId xmlns:a16="http://schemas.microsoft.com/office/drawing/2014/main" val="1338483454"/>
                        </a:ext>
                      </a:extLst>
                    </a:gridCol>
                    <a:gridCol w="2543453">
                      <a:extLst>
                        <a:ext uri="{9D8B030D-6E8A-4147-A177-3AD203B41FA5}">
                          <a16:colId xmlns:a16="http://schemas.microsoft.com/office/drawing/2014/main" val="1782579048"/>
                        </a:ext>
                      </a:extLst>
                    </a:gridCol>
                  </a:tblGrid>
                  <a:tr h="12730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  <a:stretch>
                            <a:fillRect l="-239" t="-476" r="-100478" b="-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  <a:stretch>
                            <a:fillRect l="-100239" t="-476" r="-478" b="-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3756856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1" grpId="0"/>
      <p:bldP spid="12" grpId="0" animBg="1"/>
      <p:bldP spid="13" grpId="0"/>
      <p:bldP spid="14" grpId="0"/>
      <p:bldP spid="3" grpId="0" animBg="1"/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D585E219-990B-4BA1-BEB5-FD4385D53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1162" y="2401025"/>
            <a:ext cx="34290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   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197" name="矩形 6">
            <a:extLst>
              <a:ext uri="{FF2B5EF4-FFF2-40B4-BE49-F238E27FC236}">
                <a16:creationId xmlns:a16="http://schemas.microsoft.com/office/drawing/2014/main" id="{D1594CEE-CD64-4AB7-8E53-FE899A306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558" y="1373373"/>
            <a:ext cx="4572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</a:t>
            </a:r>
            <a:r>
              <a:rPr lang="en-US" altLang="zh-CN" sz="2800" dirty="0">
                <a:latin typeface="宋体" panose="02010600030101010101" pitchFamily="2" charset="-122"/>
              </a:rPr>
              <a:t>  </a:t>
            </a:r>
            <a:r>
              <a:rPr lang="en-US" altLang="zh-CN" sz="2800" b="1" dirty="0">
                <a:latin typeface="宋体" panose="02010600030101010101" pitchFamily="2" charset="-122"/>
              </a:rPr>
              <a:t>1、</a:t>
            </a:r>
            <a:r>
              <a:rPr lang="zh-CN" altLang="en-US" sz="2800" b="1" dirty="0">
                <a:latin typeface="宋体" panose="02010600030101010101" pitchFamily="2" charset="-122"/>
              </a:rPr>
              <a:t>典型情况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9B93A6-38C3-E8FD-A25D-9876D0CBC3F8}"/>
              </a:ext>
            </a:extLst>
          </p:cNvPr>
          <p:cNvSpPr txBox="1"/>
          <p:nvPr/>
        </p:nvSpPr>
        <p:spPr>
          <a:xfrm>
            <a:off x="768558" y="279929"/>
            <a:ext cx="5152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写对偶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408290-AD5A-CA0E-FDA7-029E8892030B}"/>
                  </a:ext>
                </a:extLst>
              </p:cNvPr>
              <p:cNvSpPr txBox="1"/>
              <p:nvPr/>
            </p:nvSpPr>
            <p:spPr>
              <a:xfrm>
                <a:off x="-596908" y="2435812"/>
                <a:ext cx="6517758" cy="2126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=6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+8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≥1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≥2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≥1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408290-AD5A-CA0E-FDA7-029E88920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96908" y="2435812"/>
                <a:ext cx="6517758" cy="21264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F7155C8-690D-3CC7-CB85-C7CF5BDDF4A9}"/>
                  </a:ext>
                </a:extLst>
              </p:cNvPr>
              <p:cNvSpPr txBox="1"/>
              <p:nvPr/>
            </p:nvSpPr>
            <p:spPr>
              <a:xfrm>
                <a:off x="3932425" y="2401025"/>
                <a:ext cx="6815468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≤6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≤8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F7155C8-690D-3CC7-CB85-C7CF5BDDF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425" y="2401025"/>
                <a:ext cx="6815468" cy="16407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A2052222-BE1D-2DAD-AFEA-2405A84F8D7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942336" y="100325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>
                      <a:extLst>
                        <a:ext uri="{9D8B030D-6E8A-4147-A177-3AD203B41FA5}">
                          <a16:colId xmlns:a16="http://schemas.microsoft.com/office/drawing/2014/main" val="1338483454"/>
                        </a:ext>
                      </a:extLst>
                    </a:gridCol>
                    <a:gridCol w="2543453">
                      <a:extLst>
                        <a:ext uri="{9D8B030D-6E8A-4147-A177-3AD203B41FA5}">
                          <a16:colId xmlns:a16="http://schemas.microsoft.com/office/drawing/2014/main" val="17825790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CN" altLang="zh-CN" sz="240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fName>
                                  <m:e>
                                    <m:r>
                                      <a:rPr lang="en-CN" altLang="zh-CN" sz="240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CN" altLang="zh-CN" sz="2400" i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CN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CN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𝐴𝑥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≥0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CN" altLang="zh-CN" sz="240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r>
                                      <a:rPr lang="en-CN" altLang="zh-CN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CN" altLang="zh-CN" sz="240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CN" altLang="zh-CN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CN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sSup>
                                          <m:sSupPr>
                                            <m:ctrlPr>
                                              <a:rPr lang="en-CN" altLang="zh-CN" sz="24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CN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p>
                                            <m:r>
                                              <a:rPr lang="en-CN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≤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≥0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CN" altLang="zh-C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7568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A2052222-BE1D-2DAD-AFEA-2405A84F8D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052741"/>
                  </p:ext>
                </p:extLst>
              </p:nvPr>
            </p:nvGraphicFramePr>
            <p:xfrm>
              <a:off x="6942336" y="100325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>
                      <a:extLst>
                        <a:ext uri="{9D8B030D-6E8A-4147-A177-3AD203B41FA5}">
                          <a16:colId xmlns:a16="http://schemas.microsoft.com/office/drawing/2014/main" val="1338483454"/>
                        </a:ext>
                      </a:extLst>
                    </a:gridCol>
                    <a:gridCol w="2543453">
                      <a:extLst>
                        <a:ext uri="{9D8B030D-6E8A-4147-A177-3AD203B41FA5}">
                          <a16:colId xmlns:a16="http://schemas.microsoft.com/office/drawing/2014/main" val="1782579048"/>
                        </a:ext>
                      </a:extLst>
                    </a:gridCol>
                  </a:tblGrid>
                  <a:tr h="12730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9"/>
                          <a:stretch>
                            <a:fillRect l="-239" t="-476" r="-100478" b="-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9"/>
                          <a:stretch>
                            <a:fillRect l="-100239" t="-476" r="-478" b="-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375685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30626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02E95F67-F157-4CDF-BE52-71DB29A004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85592" y="1092498"/>
            <a:ext cx="8534400" cy="2057400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SimSong" panose="02020300000000000000" pitchFamily="18" charset="-122"/>
                <a:ea typeface="SimSong" panose="02020300000000000000" pitchFamily="18" charset="-122"/>
              </a:rPr>
              <a:t> 例：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9231" name="Rectangle 9">
            <a:extLst>
              <a:ext uri="{FF2B5EF4-FFF2-40B4-BE49-F238E27FC236}">
                <a16:creationId xmlns:a16="http://schemas.microsoft.com/office/drawing/2014/main" id="{34EF3B29-8299-4A02-BD5F-6E5492701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0392" y="3226098"/>
            <a:ext cx="39624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9228" name="Rectangle 11">
            <a:extLst>
              <a:ext uri="{FF2B5EF4-FFF2-40B4-BE49-F238E27FC236}">
                <a16:creationId xmlns:a16="http://schemas.microsoft.com/office/drawing/2014/main" id="{3FA128AB-A80B-485F-93DA-76283AAB9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192" y="3226098"/>
            <a:ext cx="34290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spcBef>
                <a:spcPct val="0"/>
              </a:spcBef>
              <a:buSzTx/>
              <a:buFontTx/>
              <a:buNone/>
            </a:pPr>
            <a:endParaRPr lang="en-US" altLang="zh-CN" sz="2400" dirty="0">
              <a:latin typeface="宋体" panose="02010600030101010101" pitchFamily="2" charset="-122"/>
            </a:endParaRPr>
          </a:p>
        </p:txBody>
      </p:sp>
      <p:grpSp>
        <p:nvGrpSpPr>
          <p:cNvPr id="20502" name="Group 22">
            <a:extLst>
              <a:ext uri="{FF2B5EF4-FFF2-40B4-BE49-F238E27FC236}">
                <a16:creationId xmlns:a16="http://schemas.microsoft.com/office/drawing/2014/main" id="{7356402D-8998-4B26-ABAE-F591CD791ADE}"/>
              </a:ext>
            </a:extLst>
          </p:cNvPr>
          <p:cNvGrpSpPr>
            <a:grpSpLocks/>
          </p:cNvGrpSpPr>
          <p:nvPr/>
        </p:nvGrpSpPr>
        <p:grpSpPr bwMode="auto">
          <a:xfrm>
            <a:off x="2809592" y="1702098"/>
            <a:ext cx="6629400" cy="914400"/>
            <a:chOff x="1152" y="864"/>
            <a:chExt cx="4176" cy="576"/>
          </a:xfrm>
        </p:grpSpPr>
        <p:sp>
          <p:nvSpPr>
            <p:cNvPr id="9225" name="Line 4">
              <a:extLst>
                <a:ext uri="{FF2B5EF4-FFF2-40B4-BE49-F238E27FC236}">
                  <a16:creationId xmlns:a16="http://schemas.microsoft.com/office/drawing/2014/main" id="{FDF0285E-DE3A-41A9-ACD9-F8B425863E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104"/>
              <a:ext cx="81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6" name="Rectangle 5">
              <a:extLst>
                <a:ext uri="{FF2B5EF4-FFF2-40B4-BE49-F238E27FC236}">
                  <a16:creationId xmlns:a16="http://schemas.microsoft.com/office/drawing/2014/main" id="{0281540F-21F8-444F-9DF9-89677DCDD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864"/>
              <a:ext cx="1776" cy="5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zh-CN" altLang="en-US" sz="24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2400" dirty="0">
                <a:latin typeface="宋体" panose="02010600030101010101" pitchFamily="2" charset="-122"/>
              </a:endParaRPr>
            </a:p>
          </p:txBody>
        </p:sp>
        <p:sp>
          <p:nvSpPr>
            <p:cNvPr id="9227" name="Rectangle 21">
              <a:extLst>
                <a:ext uri="{FF2B5EF4-FFF2-40B4-BE49-F238E27FC236}">
                  <a16:creationId xmlns:a16="http://schemas.microsoft.com/office/drawing/2014/main" id="{45B4189D-7D84-425D-AB33-989AFA849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960"/>
              <a:ext cx="1584" cy="24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6FFA937F-B91F-4383-A7E8-CC2C7A36CFFD}"/>
              </a:ext>
            </a:extLst>
          </p:cNvPr>
          <p:cNvSpPr txBox="1"/>
          <p:nvPr/>
        </p:nvSpPr>
        <p:spPr>
          <a:xfrm>
            <a:off x="1285592" y="45792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2、含等式的情况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FF8B46-3DC6-B010-E42E-FAFF6CAC32B6}"/>
                  </a:ext>
                </a:extLst>
              </p:cNvPr>
              <p:cNvSpPr txBox="1"/>
              <p:nvPr/>
            </p:nvSpPr>
            <p:spPr>
              <a:xfrm>
                <a:off x="461765" y="1415113"/>
                <a:ext cx="6517758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</m:fName>
                        <m:e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+4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≤4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FF8B46-3DC6-B010-E42E-FAFF6CAC3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65" y="1415113"/>
                <a:ext cx="6517758" cy="16407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0140A3-125E-4E11-67FB-21CEB4CED35A}"/>
                  </a:ext>
                </a:extLst>
              </p:cNvPr>
              <p:cNvSpPr txBox="1"/>
              <p:nvPr/>
            </p:nvSpPr>
            <p:spPr>
              <a:xfrm>
                <a:off x="5131034" y="1625898"/>
                <a:ext cx="651775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N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N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N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N" sz="2400" i="0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N" sz="24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CN" sz="2400" i="0">
                          <a:latin typeface="Cambria Math" panose="02040503050406030204" pitchFamily="18" charset="0"/>
                        </a:rPr>
                        <m:t>≤3</m:t>
                      </m:r>
                    </m:oMath>
                    <m:oMath xmlns:m="http://schemas.openxmlformats.org/officeDocument/2006/math">
                      <m:r>
                        <a:rPr lang="en-CN" sz="2400" i="1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N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N" sz="2400" i="1">
                          <a:latin typeface="Cambria Math" panose="02040503050406030204" pitchFamily="18" charset="0"/>
                        </a:rPr>
                        <m:t>−3</m:t>
                      </m:r>
                      <m:sSub>
                        <m:sSubPr>
                          <m:ctrlPr>
                            <a:rPr lang="en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N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CN" sz="2400" i="1">
                          <a:latin typeface="Cambria Math" panose="02040503050406030204" pitchFamily="18" charset="0"/>
                        </a:rPr>
                        <m:t>≤−3</m:t>
                      </m:r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0140A3-125E-4E11-67FB-21CEB4CED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1034" y="1625898"/>
                <a:ext cx="6517758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C11BA4F-12CE-73D4-044C-3812CAA20A29}"/>
                  </a:ext>
                </a:extLst>
              </p:cNvPr>
              <p:cNvSpPr txBox="1"/>
              <p:nvPr/>
            </p:nvSpPr>
            <p:spPr>
              <a:xfrm>
                <a:off x="788962" y="3226098"/>
                <a:ext cx="6365802" cy="2767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对偶：</a:t>
                </a:r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=3</m:t>
                          </m:r>
                          <m:sSubSup>
                            <m:sSubSup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−3</m:t>
                          </m:r>
                          <m:sSubSup>
                            <m:sSubSup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′+4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br>
                  <a:rPr lang="en-CN" sz="2400" dirty="0">
                    <a:effectLst/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zh-CN" altLang="en-US" sz="2400" b="0" i="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                    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d>
                      <m:dPr>
                        <m:begChr m:val="{"/>
                        <m:endChr m:val="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eqArr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′−2</m:t>
                            </m:r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′′+</m:t>
                            </m:r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≥1</m:t>
                            </m:r>
                          </m:e>
                          <m:e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′−</m:t>
                            </m:r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′′+2</m:t>
                            </m:r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≥2</m:t>
                            </m:r>
                          </m:e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′−3</m:t>
                            </m:r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′′+5</m:t>
                            </m:r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≥4</m:t>
                            </m:r>
                          </m:e>
                          <m:e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′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sSubSup>
                                  <m:sSubSup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′′</m:t>
                                    </m:r>
                                  </m:sup>
                                </m:sSubSup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≥0</m:t>
                            </m:r>
                          </m:e>
                        </m:eqArr>
                      </m:e>
                    </m:d>
                  </m:oMath>
                </a14:m>
                <a:r>
                  <a:rPr lang="en-CN" sz="2400" dirty="0">
                    <a:effectLst/>
                  </a:rPr>
                  <a:t> </a:t>
                </a:r>
                <a:endParaRPr lang="en-CN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C11BA4F-12CE-73D4-044C-3812CAA20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62" y="3226098"/>
                <a:ext cx="6365802" cy="27671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1806C0F-476C-DFB8-734A-297B2398AC88}"/>
                  </a:ext>
                </a:extLst>
              </p:cNvPr>
              <p:cNvSpPr txBox="1"/>
              <p:nvPr/>
            </p:nvSpPr>
            <p:spPr>
              <a:xfrm>
                <a:off x="5552792" y="3192499"/>
                <a:ext cx="6517758" cy="2834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′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′′</m:t>
                    </m:r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，则：</a:t>
                </a:r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𝑤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=3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+4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𝑡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≥2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+5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≥4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sz="24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SimSun" panose="02010600030101010101" pitchFamily="2" charset="-122"/>
                                </a:rPr>
                                <m:t>无约束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1806C0F-476C-DFB8-734A-297B2398A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2792" y="3192499"/>
                <a:ext cx="6517758" cy="28343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385C0B3-7764-B3E0-62FE-913AE492EF8D}"/>
                  </a:ext>
                </a:extLst>
              </p:cNvPr>
              <p:cNvSpPr txBox="1"/>
              <p:nvPr/>
            </p:nvSpPr>
            <p:spPr>
              <a:xfrm>
                <a:off x="1227211" y="6074075"/>
                <a:ext cx="9489362" cy="5762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一般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</a:rPr>
                  <a:t>地</a:t>
                </a:r>
                <a:r>
                  <a:rPr lang="zh-CN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，原问题第</a:t>
                </a:r>
                <a14:m>
                  <m:oMath xmlns:m="http://schemas.openxmlformats.org/officeDocument/2006/math">
                    <m:r>
                      <a:rPr lang="en-CN" sz="24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𝑖</m:t>
                    </m:r>
                  </m:oMath>
                </a14:m>
                <a:r>
                  <a:rPr lang="zh-CN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个约束取等式，对偶问题第</a:t>
                </a:r>
                <a14:m>
                  <m:oMath xmlns:m="http://schemas.openxmlformats.org/officeDocument/2006/math">
                    <m:r>
                      <a:rPr lang="en-CN" sz="24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𝑖</m:t>
                    </m:r>
                  </m:oMath>
                </a14:m>
                <a:r>
                  <a:rPr lang="zh-CN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个变量无约束。</a:t>
                </a:r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385C0B3-7764-B3E0-62FE-913AE492E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211" y="6074075"/>
                <a:ext cx="9489362" cy="576248"/>
              </a:xfrm>
              <a:prstGeom prst="rect">
                <a:avLst/>
              </a:prstGeom>
              <a:blipFill>
                <a:blip r:embed="rId11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846B7C7A-D142-DC26-E232-AE83CBFAB7F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979523" y="74346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>
                      <a:extLst>
                        <a:ext uri="{9D8B030D-6E8A-4147-A177-3AD203B41FA5}">
                          <a16:colId xmlns:a16="http://schemas.microsoft.com/office/drawing/2014/main" val="1338483454"/>
                        </a:ext>
                      </a:extLst>
                    </a:gridCol>
                    <a:gridCol w="2543453">
                      <a:extLst>
                        <a:ext uri="{9D8B030D-6E8A-4147-A177-3AD203B41FA5}">
                          <a16:colId xmlns:a16="http://schemas.microsoft.com/office/drawing/2014/main" val="17825790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CN" altLang="zh-CN" sz="240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fName>
                                  <m:e>
                                    <m:r>
                                      <a:rPr lang="en-CN" altLang="zh-CN" sz="240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CN" altLang="zh-CN" sz="2400" i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CN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CN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𝐴𝑥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≥0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CN" altLang="zh-CN" sz="240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r>
                                      <a:rPr lang="en-CN" altLang="zh-CN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CN" altLang="zh-CN" sz="240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CN" altLang="zh-CN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CN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sSup>
                                          <m:sSupPr>
                                            <m:ctrlPr>
                                              <a:rPr lang="en-CN" altLang="zh-CN" sz="24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CN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p>
                                            <m:r>
                                              <a:rPr lang="en-CN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≤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≥0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CN" altLang="zh-C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7568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846B7C7A-D142-DC26-E232-AE83CBFAB7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6240301"/>
                  </p:ext>
                </p:extLst>
              </p:nvPr>
            </p:nvGraphicFramePr>
            <p:xfrm>
              <a:off x="6979523" y="74346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>
                      <a:extLst>
                        <a:ext uri="{9D8B030D-6E8A-4147-A177-3AD203B41FA5}">
                          <a16:colId xmlns:a16="http://schemas.microsoft.com/office/drawing/2014/main" val="1338483454"/>
                        </a:ext>
                      </a:extLst>
                    </a:gridCol>
                    <a:gridCol w="2543453">
                      <a:extLst>
                        <a:ext uri="{9D8B030D-6E8A-4147-A177-3AD203B41FA5}">
                          <a16:colId xmlns:a16="http://schemas.microsoft.com/office/drawing/2014/main" val="1782579048"/>
                        </a:ext>
                      </a:extLst>
                    </a:gridCol>
                  </a:tblGrid>
                  <a:tr h="12730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2"/>
                          <a:stretch>
                            <a:fillRect l="-239" t="-476" r="-100478" b="-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2"/>
                          <a:stretch>
                            <a:fillRect l="-100239" t="-476" r="-478" b="-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375685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5629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5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4E7B9C0D-912D-4977-9C22-A88785F92B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52600" y="1535723"/>
            <a:ext cx="8534400" cy="19812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SimSong" panose="02020300000000000000" pitchFamily="18" charset="-122"/>
                <a:ea typeface="SimSong" panose="02020300000000000000" pitchFamily="18" charset="-122"/>
              </a:rPr>
              <a:t>例：</a:t>
            </a:r>
            <a:endParaRPr lang="en-US" altLang="zh-CN" sz="2400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p:grpSp>
        <p:nvGrpSpPr>
          <p:cNvPr id="21519" name="Group 15">
            <a:extLst>
              <a:ext uri="{FF2B5EF4-FFF2-40B4-BE49-F238E27FC236}">
                <a16:creationId xmlns:a16="http://schemas.microsoft.com/office/drawing/2014/main" id="{11CECE5E-FFAB-4B15-B2B6-85A5149EC237}"/>
              </a:ext>
            </a:extLst>
          </p:cNvPr>
          <p:cNvGrpSpPr>
            <a:grpSpLocks/>
          </p:cNvGrpSpPr>
          <p:nvPr/>
        </p:nvGrpSpPr>
        <p:grpSpPr bwMode="auto">
          <a:xfrm>
            <a:off x="3498112" y="2271486"/>
            <a:ext cx="3505200" cy="381000"/>
            <a:chOff x="1152" y="960"/>
            <a:chExt cx="2208" cy="240"/>
          </a:xfrm>
        </p:grpSpPr>
        <p:sp>
          <p:nvSpPr>
            <p:cNvPr id="10249" name="Line 6">
              <a:extLst>
                <a:ext uri="{FF2B5EF4-FFF2-40B4-BE49-F238E27FC236}">
                  <a16:creationId xmlns:a16="http://schemas.microsoft.com/office/drawing/2014/main" id="{4B87088F-EC76-4F7D-ABD6-7596285D4D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05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50" name="Rectangle 14">
              <a:extLst>
                <a:ext uri="{FF2B5EF4-FFF2-40B4-BE49-F238E27FC236}">
                  <a16:creationId xmlns:a16="http://schemas.microsoft.com/office/drawing/2014/main" id="{06D48D47-B8FB-4685-863A-9FC3B2A8E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960"/>
              <a:ext cx="1680" cy="240"/>
            </a:xfrm>
            <a:prstGeom prst="rect">
              <a:avLst/>
            </a:prstGeom>
            <a:noFill/>
            <a:ln w="158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FFB82ADB-4F32-498A-89BD-02E5B5FD69EA}"/>
              </a:ext>
            </a:extLst>
          </p:cNvPr>
          <p:cNvSpPr txBox="1"/>
          <p:nvPr/>
        </p:nvSpPr>
        <p:spPr>
          <a:xfrm>
            <a:off x="1447800" y="61685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3、含“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≥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”的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max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3D0C7F-B5C9-0755-49F1-C5C30B469DC4}"/>
                  </a:ext>
                </a:extLst>
              </p:cNvPr>
              <p:cNvSpPr txBox="1"/>
              <p:nvPr/>
            </p:nvSpPr>
            <p:spPr>
              <a:xfrm>
                <a:off x="1189961" y="1832101"/>
                <a:ext cx="6517758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+4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≥3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≤4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3D0C7F-B5C9-0755-49F1-C5C30B469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61" y="1832101"/>
                <a:ext cx="6517758" cy="16407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28178B-EDAA-9F7A-994C-542D7B128A00}"/>
                  </a:ext>
                </a:extLst>
              </p:cNvPr>
              <p:cNvSpPr txBox="1"/>
              <p:nvPr/>
            </p:nvSpPr>
            <p:spPr>
              <a:xfrm>
                <a:off x="5399568" y="2190821"/>
                <a:ext cx="651775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CN" sz="2400" i="0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N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N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N" sz="24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28178B-EDAA-9F7A-994C-542D7B128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568" y="2190821"/>
                <a:ext cx="6517758" cy="461665"/>
              </a:xfrm>
              <a:prstGeom prst="rect">
                <a:avLst/>
              </a:prstGeom>
              <a:blipFill>
                <a:blip r:embed="rId10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0932B4-6D68-E20E-47A5-1CD2AF1109A6}"/>
                  </a:ext>
                </a:extLst>
              </p:cNvPr>
              <p:cNvSpPr txBox="1"/>
              <p:nvPr/>
            </p:nvSpPr>
            <p:spPr>
              <a:xfrm>
                <a:off x="1004973" y="3669323"/>
                <a:ext cx="6517758" cy="28412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对偶：</a:t>
                </a:r>
                <a:endParaRPr lang="en-CN" sz="24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𝑤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=−3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′+4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𝑡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′+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≥1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′+2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≥2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′+5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≥4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′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0932B4-6D68-E20E-47A5-1CD2AF110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973" y="3669323"/>
                <a:ext cx="6517758" cy="284129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5FF8EB-D89B-EFC9-BB92-11FA18A572E2}"/>
                  </a:ext>
                </a:extLst>
              </p:cNvPr>
              <p:cNvSpPr txBox="1"/>
              <p:nvPr/>
            </p:nvSpPr>
            <p:spPr>
              <a:xfrm>
                <a:off x="6584212" y="3669323"/>
                <a:ext cx="4811232" cy="2834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=−</m:t>
                    </m:r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′</m:t>
                    </m:r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，则：</a:t>
                </a:r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𝑤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=3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+4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𝑡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≥2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+5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≥4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 smtClean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5FF8EB-D89B-EFC9-BB92-11FA18A57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212" y="3669323"/>
                <a:ext cx="4811232" cy="283436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B149CC9C-A7FF-1C24-6638-42267B8CCE4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979523" y="74346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>
                      <a:extLst>
                        <a:ext uri="{9D8B030D-6E8A-4147-A177-3AD203B41FA5}">
                          <a16:colId xmlns:a16="http://schemas.microsoft.com/office/drawing/2014/main" val="1338483454"/>
                        </a:ext>
                      </a:extLst>
                    </a:gridCol>
                    <a:gridCol w="2543453">
                      <a:extLst>
                        <a:ext uri="{9D8B030D-6E8A-4147-A177-3AD203B41FA5}">
                          <a16:colId xmlns:a16="http://schemas.microsoft.com/office/drawing/2014/main" val="17825790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CN" altLang="zh-CN" sz="240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fName>
                                  <m:e>
                                    <m:r>
                                      <a:rPr lang="en-CN" altLang="zh-CN" sz="240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CN" altLang="zh-CN" sz="2400" i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CN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CN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𝐴𝑥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≥0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CN" altLang="zh-CN" sz="240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r>
                                      <a:rPr lang="en-CN" altLang="zh-CN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CN" altLang="zh-CN" sz="240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CN" altLang="zh-CN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CN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sSup>
                                          <m:sSupPr>
                                            <m:ctrlPr>
                                              <a:rPr lang="en-CN" altLang="zh-CN" sz="24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CN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p>
                                            <m:r>
                                              <a:rPr lang="en-CN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≤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≥0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CN" altLang="zh-C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7568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B149CC9C-A7FF-1C24-6638-42267B8CCE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2085306"/>
                  </p:ext>
                </p:extLst>
              </p:nvPr>
            </p:nvGraphicFramePr>
            <p:xfrm>
              <a:off x="6979523" y="74346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>
                      <a:extLst>
                        <a:ext uri="{9D8B030D-6E8A-4147-A177-3AD203B41FA5}">
                          <a16:colId xmlns:a16="http://schemas.microsoft.com/office/drawing/2014/main" val="1338483454"/>
                        </a:ext>
                      </a:extLst>
                    </a:gridCol>
                    <a:gridCol w="2543453">
                      <a:extLst>
                        <a:ext uri="{9D8B030D-6E8A-4147-A177-3AD203B41FA5}">
                          <a16:colId xmlns:a16="http://schemas.microsoft.com/office/drawing/2014/main" val="1782579048"/>
                        </a:ext>
                      </a:extLst>
                    </a:gridCol>
                  </a:tblGrid>
                  <a:tr h="12730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3"/>
                          <a:stretch>
                            <a:fillRect l="-239" t="-476" r="-100478" b="-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3"/>
                          <a:stretch>
                            <a:fillRect l="-100239" t="-476" r="-478" b="-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375685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2616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>
            <a:extLst>
              <a:ext uri="{FF2B5EF4-FFF2-40B4-BE49-F238E27FC236}">
                <a16:creationId xmlns:a16="http://schemas.microsoft.com/office/drawing/2014/main" id="{76840868-9BF4-49DD-A5EA-C39DE8AD77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1040" y="934015"/>
            <a:ext cx="8610600" cy="5334000"/>
          </a:xfrm>
        </p:spPr>
        <p:txBody>
          <a:bodyPr/>
          <a:lstStyle/>
          <a:p>
            <a:pPr eaLnBrk="1" hangingPunct="1"/>
            <a:endParaRPr lang="zh-CN" altLang="en-US" sz="2400" dirty="0"/>
          </a:p>
          <a:p>
            <a:pPr eaLnBrk="1" hangingPunct="1"/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301" name="Text Box 5">
                <a:extLst>
                  <a:ext uri="{FF2B5EF4-FFF2-40B4-BE49-F238E27FC236}">
                    <a16:creationId xmlns:a16="http://schemas.microsoft.com/office/drawing/2014/main" id="{04FA7086-EEF9-4717-9920-F85D237558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640" y="1391216"/>
                <a:ext cx="8229600" cy="1015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marL="457200" indent="-457200">
                  <a:spcBef>
                    <a:spcPct val="20000"/>
                  </a:spcBef>
                  <a:buSzPct val="90000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4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SzTx/>
                  <a:buFontTx/>
                  <a:buNone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一般:</a:t>
                </a:r>
              </a:p>
              <a:p>
                <a:pPr eaLnBrk="1" hangingPunct="1">
                  <a:spcBef>
                    <a:spcPct val="50000"/>
                  </a:spcBef>
                  <a:buSzTx/>
                  <a:buFontTx/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问题第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个约束取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“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”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，则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问题第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个变量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≤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0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；</a:t>
                </a:r>
                <a:endParaRPr lang="en-US" altLang="zh-CN" sz="2400" dirty="0">
                  <a:latin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5301" name="Text Box 5">
                <a:extLst>
                  <a:ext uri="{FF2B5EF4-FFF2-40B4-BE49-F238E27FC236}">
                    <a16:creationId xmlns:a16="http://schemas.microsoft.com/office/drawing/2014/main" id="{04FA7086-EEF9-4717-9920-F85D23755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9640" y="1391216"/>
                <a:ext cx="8229600" cy="1015663"/>
              </a:xfrm>
              <a:prstGeom prst="rect">
                <a:avLst/>
              </a:prstGeom>
              <a:blipFill>
                <a:blip r:embed="rId8"/>
                <a:stretch>
                  <a:fillRect l="-1185" t="-4790" b="-1317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303" name="Text Box 7">
                <a:extLst>
                  <a:ext uri="{FF2B5EF4-FFF2-40B4-BE49-F238E27FC236}">
                    <a16:creationId xmlns:a16="http://schemas.microsoft.com/office/drawing/2014/main" id="{9B38C33B-71A2-4297-B869-8F620D9E9E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640" y="2381815"/>
                <a:ext cx="83820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90000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4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SzTx/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②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问题第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个约束取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“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≤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”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，则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问题第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个变量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0；</a:t>
                </a:r>
                <a:endParaRPr lang="zh-CN" altLang="en-US" sz="2400" dirty="0">
                  <a:latin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55303" name="Text Box 7">
                <a:extLst>
                  <a:ext uri="{FF2B5EF4-FFF2-40B4-BE49-F238E27FC236}">
                    <a16:creationId xmlns:a16="http://schemas.microsoft.com/office/drawing/2014/main" id="{9B38C33B-71A2-4297-B869-8F620D9E9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9640" y="2381815"/>
                <a:ext cx="8382000" cy="461665"/>
              </a:xfrm>
              <a:prstGeom prst="rect">
                <a:avLst/>
              </a:prstGeom>
              <a:blipFill>
                <a:blip r:embed="rId9"/>
                <a:stretch>
                  <a:fillRect l="-1164" t="-14667" b="-32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304" name="Text Box 8">
                <a:extLst>
                  <a:ext uri="{FF2B5EF4-FFF2-40B4-BE49-F238E27FC236}">
                    <a16:creationId xmlns:a16="http://schemas.microsoft.com/office/drawing/2014/main" id="{AD7BDE31-2070-4C21-92D6-A8DFE456DB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640" y="2828600"/>
                <a:ext cx="81534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90000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4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SzTx/>
                  <a:buNone/>
                </a:pPr>
                <a:r>
                  <a:rPr lang="en-US" altLang="zh-CN" sz="2400" dirty="0">
                    <a:latin typeface="宋体" panose="02010600030101010101" pitchFamily="2" charset="-122"/>
                  </a:rPr>
                  <a:t>③ </a:t>
                </a:r>
                <a:r>
                  <a:rPr lang="zh-CN" altLang="en-US" sz="2400" dirty="0">
                    <a:latin typeface="宋体" panose="02010600030101010101" pitchFamily="2" charset="-122"/>
                  </a:rPr>
                  <a:t>原问题第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</a:rPr>
                  <a:t>个约束取等式，对偶问题第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</a:rPr>
                  <a:t>个变量无约束；</a:t>
                </a:r>
              </a:p>
            </p:txBody>
          </p:sp>
        </mc:Choice>
        <mc:Fallback xmlns="">
          <p:sp>
            <p:nvSpPr>
              <p:cNvPr id="55304" name="Text Box 8">
                <a:extLst>
                  <a:ext uri="{FF2B5EF4-FFF2-40B4-BE49-F238E27FC236}">
                    <a16:creationId xmlns:a16="http://schemas.microsoft.com/office/drawing/2014/main" id="{AD7BDE31-2070-4C21-92D6-A8DFE456D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9640" y="2828600"/>
                <a:ext cx="8153400" cy="457200"/>
              </a:xfrm>
              <a:prstGeom prst="rect">
                <a:avLst/>
              </a:prstGeom>
              <a:blipFill>
                <a:blip r:embed="rId10"/>
                <a:stretch>
                  <a:fillRect l="-1197" t="-14667" b="-26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305" name="Text Box 9">
                <a:extLst>
                  <a:ext uri="{FF2B5EF4-FFF2-40B4-BE49-F238E27FC236}">
                    <a16:creationId xmlns:a16="http://schemas.microsoft.com/office/drawing/2014/main" id="{F8C64B2D-4D30-4A56-BD09-5F5D650DCD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640" y="3220015"/>
                <a:ext cx="86106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SzPct val="90000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4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SzTx/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④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ma</m:t>
                    </m:r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问题第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个变量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 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≤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0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 ,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问题第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j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个约束取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“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”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 ；</a:t>
                </a:r>
                <a:endParaRPr lang="zh-CN" altLang="en-US" sz="24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55305" name="Text Box 9">
                <a:extLst>
                  <a:ext uri="{FF2B5EF4-FFF2-40B4-BE49-F238E27FC236}">
                    <a16:creationId xmlns:a16="http://schemas.microsoft.com/office/drawing/2014/main" id="{F8C64B2D-4D30-4A56-BD09-5F5D650DC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9640" y="3220015"/>
                <a:ext cx="8610600" cy="461665"/>
              </a:xfrm>
              <a:prstGeom prst="rect">
                <a:avLst/>
              </a:prstGeom>
              <a:blipFill>
                <a:blip r:embed="rId11"/>
                <a:stretch>
                  <a:fillRect l="-1133" t="-14474" b="-302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306" name="Text Box 10">
                <a:extLst>
                  <a:ext uri="{FF2B5EF4-FFF2-40B4-BE49-F238E27FC236}">
                    <a16:creationId xmlns:a16="http://schemas.microsoft.com/office/drawing/2014/main" id="{355A9699-309E-4737-9614-DB0F1B8CE4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640" y="3677215"/>
                <a:ext cx="82296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90000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4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SzTx/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⑤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问题第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个变量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 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≤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0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，则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ma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问题第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个约束取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“</a:t>
                </a:r>
                <a:r>
                  <a:rPr lang="en-US" altLang="zh-CN" sz="2400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”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 </a:t>
                </a:r>
                <a:r>
                  <a:rPr lang="zh-CN" altLang="en-US" sz="2400" dirty="0">
                    <a:latin typeface="宋体" panose="02010600030101010101" pitchFamily="2" charset="-122"/>
                  </a:rPr>
                  <a:t>；</a:t>
                </a:r>
              </a:p>
            </p:txBody>
          </p:sp>
        </mc:Choice>
        <mc:Fallback xmlns="">
          <p:sp>
            <p:nvSpPr>
              <p:cNvPr id="55306" name="Text Box 10">
                <a:extLst>
                  <a:ext uri="{FF2B5EF4-FFF2-40B4-BE49-F238E27FC236}">
                    <a16:creationId xmlns:a16="http://schemas.microsoft.com/office/drawing/2014/main" id="{355A9699-309E-4737-9614-DB0F1B8CE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9640" y="3677215"/>
                <a:ext cx="8229600" cy="457200"/>
              </a:xfrm>
              <a:prstGeom prst="rect">
                <a:avLst/>
              </a:prstGeom>
              <a:blipFill>
                <a:blip r:embed="rId12"/>
                <a:stretch>
                  <a:fillRect l="-1185" t="-14667" r="-4815" b="-32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307" name="Text Box 11">
                <a:extLst>
                  <a:ext uri="{FF2B5EF4-FFF2-40B4-BE49-F238E27FC236}">
                    <a16:creationId xmlns:a16="http://schemas.microsoft.com/office/drawing/2014/main" id="{B32D7EDE-A89D-4D6D-92D3-92718EB4E1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640" y="4210615"/>
                <a:ext cx="83820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90000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4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SzTx/>
                  <a:buNone/>
                </a:pPr>
                <a:r>
                  <a:rPr lang="zh-CN" altLang="en-US" sz="2400" dirty="0">
                    <a:latin typeface="宋体" panose="02010600030101010101" pitchFamily="2" charset="-122"/>
                  </a:rPr>
                  <a:t>⑥ 原问题第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</a:rPr>
                  <a:t>个变量无约束，对偶问题第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</a:rPr>
                  <a:t>个约束取等式。</a:t>
                </a:r>
              </a:p>
            </p:txBody>
          </p:sp>
        </mc:Choice>
        <mc:Fallback xmlns="">
          <p:sp>
            <p:nvSpPr>
              <p:cNvPr id="55307" name="Text Box 11">
                <a:extLst>
                  <a:ext uri="{FF2B5EF4-FFF2-40B4-BE49-F238E27FC236}">
                    <a16:creationId xmlns:a16="http://schemas.microsoft.com/office/drawing/2014/main" id="{B32D7EDE-A89D-4D6D-92D3-92718EB4E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9640" y="4210615"/>
                <a:ext cx="8382000" cy="457200"/>
              </a:xfrm>
              <a:prstGeom prst="rect">
                <a:avLst/>
              </a:prstGeom>
              <a:blipFill>
                <a:blip r:embed="rId13"/>
                <a:stretch>
                  <a:fillRect l="-1164" t="-14667" b="-26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E37C7D4-CCA2-9CE5-C32E-8B7E66E150C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106787" y="80068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>
                      <a:extLst>
                        <a:ext uri="{9D8B030D-6E8A-4147-A177-3AD203B41FA5}">
                          <a16:colId xmlns:a16="http://schemas.microsoft.com/office/drawing/2014/main" val="1338483454"/>
                        </a:ext>
                      </a:extLst>
                    </a:gridCol>
                    <a:gridCol w="2543453">
                      <a:extLst>
                        <a:ext uri="{9D8B030D-6E8A-4147-A177-3AD203B41FA5}">
                          <a16:colId xmlns:a16="http://schemas.microsoft.com/office/drawing/2014/main" val="17825790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CN" altLang="zh-CN" sz="240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fName>
                                  <m:e>
                                    <m:r>
                                      <a:rPr lang="en-CN" altLang="zh-CN" sz="240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CN" altLang="zh-CN" sz="2400" i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CN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CN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𝐴𝑥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≥0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CN" altLang="zh-CN" sz="240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r>
                                      <a:rPr lang="en-CN" altLang="zh-CN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CN" altLang="zh-CN" sz="240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CN" altLang="zh-CN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CN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sSup>
                                          <m:sSupPr>
                                            <m:ctrlPr>
                                              <a:rPr lang="en-CN" altLang="zh-CN" sz="24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CN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p>
                                            <m:r>
                                              <a:rPr lang="en-CN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≤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≥0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CN" altLang="zh-C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7568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E37C7D4-CCA2-9CE5-C32E-8B7E66E150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1706599"/>
                  </p:ext>
                </p:extLst>
              </p:nvPr>
            </p:nvGraphicFramePr>
            <p:xfrm>
              <a:off x="7106787" y="80068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>
                      <a:extLst>
                        <a:ext uri="{9D8B030D-6E8A-4147-A177-3AD203B41FA5}">
                          <a16:colId xmlns:a16="http://schemas.microsoft.com/office/drawing/2014/main" val="1338483454"/>
                        </a:ext>
                      </a:extLst>
                    </a:gridCol>
                    <a:gridCol w="2543453">
                      <a:extLst>
                        <a:ext uri="{9D8B030D-6E8A-4147-A177-3AD203B41FA5}">
                          <a16:colId xmlns:a16="http://schemas.microsoft.com/office/drawing/2014/main" val="1782579048"/>
                        </a:ext>
                      </a:extLst>
                    </a:gridCol>
                  </a:tblGrid>
                  <a:tr h="12730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4"/>
                          <a:stretch>
                            <a:fillRect l="-239" t="-478" r="-100478" b="-1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4"/>
                          <a:stretch>
                            <a:fillRect l="-100239" t="-478" r="-478" b="-14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375685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7432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5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 autoUpdateAnimBg="0"/>
      <p:bldP spid="55301" grpId="0" autoUpdateAnimBg="0"/>
      <p:bldP spid="55303" grpId="0" autoUpdateAnimBg="0"/>
      <p:bldP spid="55304" grpId="0" autoUpdateAnimBg="0"/>
      <p:bldP spid="55305" grpId="0" autoUpdateAnimBg="0"/>
      <p:bldP spid="55306" grpId="0" autoUpdateAnimBg="0"/>
      <p:bldP spid="55307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291" name="Rectangle 2">
                <a:extLst>
                  <a:ext uri="{FF2B5EF4-FFF2-40B4-BE49-F238E27FC236}">
                    <a16:creationId xmlns:a16="http://schemas.microsoft.com/office/drawing/2014/main" id="{D14EC120-5DA5-450B-86F2-96FA0BAED52E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557257" y="877410"/>
                <a:ext cx="8534400" cy="3649226"/>
              </a:xfrm>
            </p:spPr>
            <p:txBody>
              <a:bodyPr>
                <a:normAutofit/>
              </a:bodyPr>
              <a:lstStyle/>
              <a:p>
                <a:pPr indent="0">
                  <a:lnSpc>
                    <a:spcPct val="100000"/>
                  </a:lnSpc>
                  <a:spcBef>
                    <a:spcPct val="0"/>
                  </a:spcBef>
                  <a:buNone/>
                </a:pPr>
                <a:r>
                  <a:rPr lang="zh-CN" altLang="en-US" sz="2400" b="1" dirty="0">
                    <a:latin typeface="宋体" panose="02010600030101010101" pitchFamily="2" charset="-122"/>
                  </a:rPr>
                  <a:t>  </a:t>
                </a:r>
                <a:r>
                  <a:rPr lang="zh-CN" altLang="en-US" sz="2400" b="1" dirty="0">
                    <a:latin typeface="SimSong" panose="02020300000000000000" pitchFamily="18" charset="-122"/>
                    <a:ea typeface="SimSong" panose="02020300000000000000" pitchFamily="18" charset="-122"/>
                  </a:rPr>
                  <a:t>例：</a:t>
                </a:r>
                <a:r>
                  <a:rPr lang="en-US" altLang="zh-CN" sz="3400" b="1" dirty="0">
                    <a:latin typeface="SimSong" panose="02020300000000000000" pitchFamily="18" charset="-122"/>
                    <a:ea typeface="SimSong" panose="02020300000000000000" pitchFamily="18" charset="-122"/>
                  </a:rPr>
                  <a:t>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N" sz="2400" i="0" smtClean="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min</m:t>
                        </m:r>
                      </m:fName>
                      <m:e/>
                    </m:func>
                    <m:r>
                      <a:rPr lang="en-CN" sz="2400" i="1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𝑧</m:t>
                    </m:r>
                    <m:r>
                      <a:rPr lang="en-CN" sz="2400" i="1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=2</m:t>
                    </m:r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+3</m:t>
                    </m:r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−5</m:t>
                    </m:r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3</m:t>
                        </m:r>
                      </m:sub>
                    </m:sSub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4</m:t>
                        </m:r>
                      </m:sub>
                    </m:sSub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 </m:t>
                    </m:r>
                  </m:oMath>
                </a14:m>
                <a:endParaRPr lang="en-US" sz="2400" b="0" i="1" dirty="0">
                  <a:effectLst/>
                  <a:latin typeface="Cambria Math" panose="02040503050406030204" pitchFamily="18" charset="0"/>
                  <a:ea typeface="SimSun" panose="02010600030101010101" pitchFamily="2" charset="-122"/>
                </a:endParaRPr>
              </a:p>
              <a:p>
                <a:pPr indent="0">
                  <a:lnSpc>
                    <a:spcPct val="100000"/>
                  </a:lnSpc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𝑠</m:t>
                      </m:r>
                      <m:r>
                        <a:rPr lang="en-CN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r>
                        <a:rPr lang="en-CN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𝑡</m:t>
                      </m:r>
                      <m:r>
                        <a:rPr lang="en-CN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+</m:t>
                                  </m:r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≥5</m:t>
                              </m:r>
                            </m:e>
                            <m:e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−</m:t>
                                  </m:r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≤4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=6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≤0,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≥0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zh-CN" sz="24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无约束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dirty="0">
                  <a:latin typeface="SimSong" panose="02020300000000000000" pitchFamily="18" charset="-122"/>
                  <a:ea typeface="SimSong" panose="02020300000000000000" pitchFamily="18" charset="-122"/>
                </a:endParaRPr>
              </a:p>
            </p:txBody>
          </p:sp>
        </mc:Choice>
        <mc:Fallback xmlns="">
          <p:sp>
            <p:nvSpPr>
              <p:cNvPr id="12291" name="Rectangle 2">
                <a:extLst>
                  <a:ext uri="{FF2B5EF4-FFF2-40B4-BE49-F238E27FC236}">
                    <a16:creationId xmlns:a16="http://schemas.microsoft.com/office/drawing/2014/main" id="{D14EC120-5DA5-450B-86F2-96FA0BAED5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7257" y="877410"/>
                <a:ext cx="8534400" cy="364922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94" name="Rectangle 4">
                <a:extLst>
                  <a:ext uri="{FF2B5EF4-FFF2-40B4-BE49-F238E27FC236}">
                    <a16:creationId xmlns:a16="http://schemas.microsoft.com/office/drawing/2014/main" id="{27A837A2-3F5A-4B45-87FC-3F1DE6F361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2766" y="3267584"/>
                <a:ext cx="7908891" cy="3364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90000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4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None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对偶：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N" sz="2400" i="0" smtClean="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max</m:t>
                        </m:r>
                      </m:fName>
                      <m:e>
                        <m:r>
                          <a:rPr lang="en-CN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𝑤</m:t>
                        </m:r>
                        <m:r>
                          <a:rPr lang="en-CN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=5</m:t>
                        </m:r>
                        <m:sSub>
                          <m:sSubPr>
                            <m:ctrlP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CN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+4</m:t>
                        </m:r>
                        <m:sSub>
                          <m:sSubPr>
                            <m:ctrlP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lang="en-CN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+6</m:t>
                        </m:r>
                        <m:sSub>
                          <m:sSubPr>
                            <m:ctrlP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3</m:t>
                            </m:r>
                          </m:sub>
                        </m:sSub>
                      </m:e>
                    </m:func>
                  </m:oMath>
                </a14:m>
                <a:br>
                  <a:rPr lang="en-CN" sz="2400" i="1" dirty="0">
                    <a:effectLst/>
                    <a:latin typeface="Cambria Math" panose="02040503050406030204" pitchFamily="18" charset="0"/>
                    <a:ea typeface="SimSun" panose="02010600030101010101" pitchFamily="2" charset="-122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𝑠</m:t>
                      </m:r>
                      <m:r>
                        <a:rPr lang="en-CN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r>
                        <a:rPr lang="en-CN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𝑡</m:t>
                      </m:r>
                      <m:r>
                        <a:rPr lang="en-CN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≥2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≤3</m:t>
                              </m:r>
                            </m:e>
                            <m:e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≤−5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=1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≥0,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≤0,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sz="24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无约束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zh-CN" altLang="en-US" sz="2400" dirty="0">
                  <a:latin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2294" name="Rectangle 4">
                <a:extLst>
                  <a:ext uri="{FF2B5EF4-FFF2-40B4-BE49-F238E27FC236}">
                    <a16:creationId xmlns:a16="http://schemas.microsoft.com/office/drawing/2014/main" id="{27A837A2-3F5A-4B45-87FC-3F1DE6F361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2766" y="3267584"/>
                <a:ext cx="7908891" cy="3364523"/>
              </a:xfrm>
              <a:prstGeom prst="rect">
                <a:avLst/>
              </a:prstGeom>
              <a:blipFill>
                <a:blip r:embed="rId8"/>
                <a:stretch>
                  <a:fillRect l="-115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85DA27C-25F1-20D8-EBCA-4B0EC5E42AF7}"/>
                  </a:ext>
                </a:extLst>
              </p:cNvPr>
              <p:cNvSpPr txBox="1"/>
              <p:nvPr/>
            </p:nvSpPr>
            <p:spPr>
              <a:xfrm>
                <a:off x="4680751" y="1453217"/>
                <a:ext cx="609452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altLang="zh-CN" sz="24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CN" altLang="zh-CN" sz="24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𝑦</m:t>
                          </m:r>
                        </m:e>
                        <m:sub>
                          <m:r>
                            <a:rPr lang="en-CN" altLang="zh-CN" sz="24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altLang="zh-CN" sz="24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CN" altLang="zh-CN" sz="24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altLang="zh-CN" sz="24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CN" altLang="zh-CN" sz="24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85DA27C-25F1-20D8-EBCA-4B0EC5E42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751" y="1453217"/>
                <a:ext cx="6094520" cy="1200329"/>
              </a:xfrm>
              <a:prstGeom prst="rect">
                <a:avLst/>
              </a:prstGeom>
              <a:blipFill>
                <a:blip r:embed="rId9"/>
                <a:stretch>
                  <a:fillRect b="-35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2D0B409F-4670-C125-02EF-7D5420523F2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106787" y="80068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>
                      <a:extLst>
                        <a:ext uri="{9D8B030D-6E8A-4147-A177-3AD203B41FA5}">
                          <a16:colId xmlns:a16="http://schemas.microsoft.com/office/drawing/2014/main" val="1338483454"/>
                        </a:ext>
                      </a:extLst>
                    </a:gridCol>
                    <a:gridCol w="2543453">
                      <a:extLst>
                        <a:ext uri="{9D8B030D-6E8A-4147-A177-3AD203B41FA5}">
                          <a16:colId xmlns:a16="http://schemas.microsoft.com/office/drawing/2014/main" val="17825790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CN" altLang="zh-CN" sz="240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fName>
                                  <m:e>
                                    <m:r>
                                      <a:rPr lang="en-CN" altLang="zh-CN" sz="240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CN" altLang="zh-CN" sz="2400" i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CN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CN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𝐴𝑥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≥0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CN" altLang="zh-CN" sz="240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r>
                                      <a:rPr lang="en-CN" altLang="zh-CN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CN" altLang="zh-CN" sz="240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CN" altLang="zh-CN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CN" sz="240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CN" altLang="zh-CN" sz="2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CN" altLang="zh-CN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CN" altLang="zh-CN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sSup>
                                          <m:sSupPr>
                                            <m:ctrlPr>
                                              <a:rPr lang="en-CN" altLang="zh-CN" sz="24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CN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p>
                                            <m:r>
                                              <a:rPr lang="en-CN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≤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e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CN" altLang="zh-CN" sz="2400" i="0">
                                            <a:latin typeface="Cambria Math" panose="02040503050406030204" pitchFamily="18" charset="0"/>
                                          </a:rPr>
                                          <m:t>≥0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CN" altLang="zh-C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7568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2D0B409F-4670-C125-02EF-7D5420523F2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106787" y="80068"/>
              <a:ext cx="5086906" cy="1273048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2543453">
                      <a:extLst>
                        <a:ext uri="{9D8B030D-6E8A-4147-A177-3AD203B41FA5}">
                          <a16:colId xmlns:a16="http://schemas.microsoft.com/office/drawing/2014/main" val="1338483454"/>
                        </a:ext>
                      </a:extLst>
                    </a:gridCol>
                    <a:gridCol w="2543453">
                      <a:extLst>
                        <a:ext uri="{9D8B030D-6E8A-4147-A177-3AD203B41FA5}">
                          <a16:colId xmlns:a16="http://schemas.microsoft.com/office/drawing/2014/main" val="1782579048"/>
                        </a:ext>
                      </a:extLst>
                    </a:gridCol>
                  </a:tblGrid>
                  <a:tr h="12730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  <a:stretch>
                            <a:fillRect l="-239" t="-478" r="-100478" b="-1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  <a:stretch>
                            <a:fillRect l="-100239" t="-478" r="-478" b="-14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375685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61428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6B484B8-3598-447B-B3B2-DE3A6B5EED2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01427" y="1958975"/>
            <a:ext cx="7772400" cy="1470025"/>
          </a:xfrm>
        </p:spPr>
        <p:txBody>
          <a:bodyPr anchor="ctr"/>
          <a:lstStyle/>
          <a:p>
            <a:r>
              <a:rPr lang="zh-CN" altLang="en-US" sz="4400" b="1" dirty="0">
                <a:latin typeface="DengXian" panose="02010600030101010101" pitchFamily="2" charset="-122"/>
                <a:ea typeface="DengXian" panose="02010600030101010101" pitchFamily="2" charset="-122"/>
              </a:rPr>
              <a:t>对偶理论</a:t>
            </a:r>
          </a:p>
        </p:txBody>
      </p:sp>
    </p:spTree>
    <p:extLst>
      <p:ext uri="{BB962C8B-B14F-4D97-AF65-F5344CB8AC3E}">
        <p14:creationId xmlns:p14="http://schemas.microsoft.com/office/powerpoint/2010/main" val="3751386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4C5C942A-D7E7-4599-B70F-3D21F2E28CF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932156" y="1031307"/>
            <a:ext cx="10413506" cy="3722687"/>
          </a:xfrm>
        </p:spPr>
        <p:txBody>
          <a:bodyPr>
            <a:normAutofit/>
          </a:bodyPr>
          <a:lstStyle/>
          <a:p>
            <a:pPr indent="608400" algn="just">
              <a:lnSpc>
                <a:spcPct val="150000"/>
              </a:lnSpc>
            </a:pPr>
            <a:r>
              <a:rPr lang="zh-CN" altLang="en-US" b="0" i="0" dirty="0">
                <a:effectLst/>
                <a:highlight>
                  <a:srgbClr val="FFFFFF"/>
                </a:highlight>
                <a:latin typeface="SimSong" panose="02020300000000000000" pitchFamily="18" charset="-122"/>
                <a:ea typeface="SimSong" panose="02020300000000000000" pitchFamily="18" charset="-122"/>
              </a:rPr>
              <a:t>对偶理论是研究</a:t>
            </a:r>
            <a:r>
              <a:rPr lang="zh-CN" altLang="en-US" b="0" i="0" u="none" strike="noStrike" dirty="0">
                <a:effectLst/>
                <a:highlight>
                  <a:srgbClr val="FFFFFF"/>
                </a:highlight>
                <a:latin typeface="SimSong" panose="02020300000000000000" pitchFamily="18" charset="-122"/>
                <a:ea typeface="SimSong" panose="02020300000000000000" pitchFamily="18" charset="-122"/>
              </a:rPr>
              <a:t>线性规划</a:t>
            </a:r>
            <a:r>
              <a:rPr lang="zh-CN" altLang="en-US" b="0" i="0" dirty="0">
                <a:effectLst/>
                <a:highlight>
                  <a:srgbClr val="FFFFFF"/>
                </a:highlight>
                <a:latin typeface="SimSong" panose="02020300000000000000" pitchFamily="18" charset="-122"/>
                <a:ea typeface="SimSong" panose="02020300000000000000" pitchFamily="18" charset="-122"/>
              </a:rPr>
              <a:t>中原始问题与</a:t>
            </a:r>
            <a:r>
              <a:rPr lang="zh-CN" altLang="en-US" b="0" i="0" u="none" strike="noStrike" dirty="0">
                <a:effectLst/>
                <a:highlight>
                  <a:srgbClr val="FFFFFF"/>
                </a:highlight>
                <a:latin typeface="SimSong" panose="02020300000000000000" pitchFamily="18" charset="-122"/>
                <a:ea typeface="SimSong" panose="02020300000000000000" pitchFamily="18" charset="-122"/>
              </a:rPr>
              <a:t>对偶问题</a:t>
            </a:r>
            <a:r>
              <a:rPr lang="zh-CN" altLang="en-US" b="0" i="0" dirty="0">
                <a:effectLst/>
                <a:highlight>
                  <a:srgbClr val="FFFFFF"/>
                </a:highlight>
                <a:latin typeface="SimSong" panose="02020300000000000000" pitchFamily="18" charset="-122"/>
                <a:ea typeface="SimSong" panose="02020300000000000000" pitchFamily="18" charset="-122"/>
              </a:rPr>
              <a:t>之间关系的理论。在线性规划早期发展中最重要的发现是对偶问题，即每一个线性规划问题（称为原始问题）有一个与它对应的</a:t>
            </a:r>
            <a:r>
              <a:rPr lang="zh-CN" altLang="en-US" b="0" i="0" u="none" strike="noStrike" dirty="0">
                <a:effectLst/>
                <a:highlight>
                  <a:srgbClr val="FFFFFF"/>
                </a:highlight>
                <a:latin typeface="SimSong" panose="02020300000000000000" pitchFamily="18" charset="-122"/>
                <a:ea typeface="SimSong" panose="02020300000000000000" pitchFamily="18" charset="-122"/>
              </a:rPr>
              <a:t>对偶线性规划</a:t>
            </a:r>
            <a:r>
              <a:rPr lang="zh-CN" altLang="en-US" b="0" i="0" dirty="0">
                <a:effectLst/>
                <a:highlight>
                  <a:srgbClr val="FFFFFF"/>
                </a:highlight>
                <a:latin typeface="SimSong" panose="02020300000000000000" pitchFamily="18" charset="-122"/>
                <a:ea typeface="SimSong" panose="02020300000000000000" pitchFamily="18" charset="-122"/>
              </a:rPr>
              <a:t>问题（称为对偶问题）。</a:t>
            </a:r>
            <a:endParaRPr lang="en-US" altLang="zh-CN" b="0" i="0" dirty="0">
              <a:effectLst/>
              <a:highlight>
                <a:srgbClr val="FFFFFF"/>
              </a:highlight>
              <a:latin typeface="SimSong" panose="02020300000000000000" pitchFamily="18" charset="-122"/>
              <a:ea typeface="SimSong" panose="02020300000000000000" pitchFamily="18" charset="-122"/>
            </a:endParaRPr>
          </a:p>
          <a:p>
            <a:pPr indent="608400" algn="just">
              <a:lnSpc>
                <a:spcPct val="150000"/>
              </a:lnSpc>
            </a:pPr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成功的线性规划原</a:t>
            </a:r>
            <a:r>
              <a:rPr lang="en-US" altLang="zh-CN" sz="2400" dirty="0">
                <a:latin typeface="SimSong" panose="02020300000000000000" pitchFamily="18" charset="-122"/>
                <a:ea typeface="SimSong" panose="02020300000000000000" pitchFamily="18" charset="-122"/>
              </a:rPr>
              <a:t>-</a:t>
            </a:r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对偶内点算法就是基于互补松弛定理而提出来的</a:t>
            </a:r>
            <a:r>
              <a:rPr lang="zh-CN" altLang="en-US" sz="2400" b="1" dirty="0">
                <a:latin typeface="SimSong" panose="02020300000000000000" pitchFamily="18" charset="-122"/>
                <a:ea typeface="SimSong" panose="02020300000000000000" pitchFamily="18" charset="-122"/>
              </a:rPr>
              <a:t>。</a:t>
            </a:r>
            <a:r>
              <a:rPr lang="en-US" altLang="zh-CN" b="1" dirty="0">
                <a:latin typeface="SimSong" panose="02020300000000000000" pitchFamily="18" charset="-122"/>
                <a:ea typeface="SimSong" panose="02020300000000000000" pitchFamily="18" charset="-122"/>
              </a:rPr>
              <a:t>   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>
            <a:extLst>
              <a:ext uri="{FF2B5EF4-FFF2-40B4-BE49-F238E27FC236}">
                <a16:creationId xmlns:a16="http://schemas.microsoft.com/office/drawing/2014/main" id="{B86C6975-FCF6-4E67-A9A7-BC05B2159D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63763" y="836613"/>
            <a:ext cx="7772400" cy="53340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zh-CN" altLang="en-US" sz="2400"/>
          </a:p>
          <a:p>
            <a:pPr eaLnBrk="1" hangingPunct="1">
              <a:buFontTx/>
              <a:buNone/>
            </a:pPr>
            <a:endParaRPr lang="zh-CN" altLang="en-US" sz="2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67EB7E-7B14-4896-9E53-C5713FB43216}"/>
              </a:ext>
            </a:extLst>
          </p:cNvPr>
          <p:cNvSpPr txBox="1"/>
          <p:nvPr/>
        </p:nvSpPr>
        <p:spPr>
          <a:xfrm>
            <a:off x="1929894" y="687387"/>
            <a:ext cx="7436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（</a:t>
            </a:r>
            <a:r>
              <a:rPr lang="en-US" altLang="zh-CN" sz="2400" dirty="0">
                <a:latin typeface="SimSong" panose="02020300000000000000" pitchFamily="18" charset="-122"/>
                <a:ea typeface="SimSong" panose="02020300000000000000" pitchFamily="18" charset="-122"/>
              </a:rPr>
              <a:t>LP</a:t>
            </a:r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）         </a:t>
            </a:r>
            <a:r>
              <a:rPr lang="en-US" altLang="zh-CN" sz="2400" dirty="0">
                <a:latin typeface="SimSong" panose="02020300000000000000" pitchFamily="18" charset="-122"/>
                <a:ea typeface="SimSong" panose="02020300000000000000" pitchFamily="18" charset="-122"/>
              </a:rPr>
              <a:t>   </a:t>
            </a:r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                     （</a:t>
            </a:r>
            <a:r>
              <a:rPr lang="en-US" altLang="zh-CN" sz="2400" dirty="0">
                <a:latin typeface="SimSong" panose="02020300000000000000" pitchFamily="18" charset="-122"/>
                <a:ea typeface="SimSong" panose="02020300000000000000" pitchFamily="18" charset="-122"/>
              </a:rPr>
              <a:t>LD</a:t>
            </a:r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4F3EAAC-3DBC-9B2F-46F3-0BCCE8747F0D}"/>
              </a:ext>
            </a:extLst>
          </p:cNvPr>
          <p:cNvSpPr txBox="1"/>
          <p:nvPr/>
        </p:nvSpPr>
        <p:spPr>
          <a:xfrm>
            <a:off x="616909" y="1541463"/>
            <a:ext cx="11172092" cy="100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" marR="20320" indent="608400" algn="just">
              <a:lnSpc>
                <a:spcPct val="130000"/>
              </a:lnSpc>
              <a:spcAft>
                <a:spcPts val="0"/>
              </a:spcAft>
              <a:tabLst>
                <a:tab pos="269875" algn="l"/>
                <a:tab pos="266700" algn="l"/>
              </a:tabLst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考虑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标准型线性规划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LP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与其对偶问题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LD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，我们有下面的基本定理，这些定理同样适用于一般线性规划和其对偶规划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2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BDB0AC1-76B7-31E7-3B80-2B2420407514}"/>
                  </a:ext>
                </a:extLst>
              </p:cNvPr>
              <p:cNvSpPr txBox="1"/>
              <p:nvPr/>
            </p:nvSpPr>
            <p:spPr>
              <a:xfrm>
                <a:off x="854827" y="255983"/>
                <a:ext cx="6099348" cy="1285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CN" sz="2400" i="1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CN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BDB0AC1-76B7-31E7-3B80-2B2420407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27" y="255983"/>
                <a:ext cx="6099348" cy="12854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915A29-9C57-9F3B-74A0-85DB574FFB3D}"/>
                  </a:ext>
                </a:extLst>
              </p:cNvPr>
              <p:cNvSpPr txBox="1"/>
              <p:nvPr/>
            </p:nvSpPr>
            <p:spPr>
              <a:xfrm>
                <a:off x="5318565" y="483224"/>
                <a:ext cx="609934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CN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CN" sz="240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CN" sz="2400" i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CN" altLang="zh-CN" sz="2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altLang="zh-CN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N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CN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CN" altLang="zh-CN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N" altLang="zh-CN" sz="24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CN" altLang="zh-CN" sz="24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CN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915A29-9C57-9F3B-74A0-85DB574FF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565" y="483224"/>
                <a:ext cx="6099348" cy="830997"/>
              </a:xfrm>
              <a:prstGeom prst="rect">
                <a:avLst/>
              </a:prstGeom>
              <a:blipFill>
                <a:blip r:embed="rId3"/>
                <a:stretch>
                  <a:fillRect b="-5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EDF288-EF30-8F31-3323-337E45EB0B05}"/>
                  </a:ext>
                </a:extLst>
              </p:cNvPr>
              <p:cNvSpPr txBox="1"/>
              <p:nvPr/>
            </p:nvSpPr>
            <p:spPr>
              <a:xfrm>
                <a:off x="616909" y="2601234"/>
                <a:ext cx="10866107" cy="4012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+mn-ea"/>
                  </a:rPr>
                  <a:t>定理</a:t>
                </a:r>
                <a:r>
                  <a:rPr lang="en-US" altLang="zh-CN" sz="2400" b="1" dirty="0">
                    <a:effectLst/>
                    <a:latin typeface="+mn-ea"/>
                  </a:rPr>
                  <a:t>3-</a:t>
                </a:r>
                <a:r>
                  <a:rPr lang="en-CN" sz="2400" b="1" dirty="0">
                    <a:effectLst/>
                    <a:latin typeface="+mn-ea"/>
                  </a:rPr>
                  <a:t>1</a:t>
                </a:r>
                <a:r>
                  <a:rPr lang="zh-CN" sz="2400" b="1" dirty="0">
                    <a:effectLst/>
                    <a:latin typeface="+mn-ea"/>
                  </a:rPr>
                  <a:t>（弱对偶性定理）</a:t>
                </a:r>
                <a:r>
                  <a:rPr lang="zh-CN" sz="2400" dirty="0">
                    <a:effectLst/>
                    <a:latin typeface="+mn-ea"/>
                  </a:rPr>
                  <a:t>设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分别是（</a:t>
                </a:r>
                <a:r>
                  <a:rPr lang="en-CN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）和（</a:t>
                </a:r>
                <a:r>
                  <a:rPr lang="en-CN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）的可行解，则它们的目标函数值满足不等式关系：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N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CN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CN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CN" sz="24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CN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N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CN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CN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。</a:t>
                </a:r>
                <a:endParaRPr lang="en-CN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证明：令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，因为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是（</a:t>
                </a:r>
                <a:r>
                  <a:rPr lang="en-CN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）的可行解，故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zh-CN" sz="2400" dirty="0">
                    <a:effectLst/>
                    <a:latin typeface="+mn-ea"/>
                  </a:rPr>
                  <a:t>。因为</a:t>
                </a:r>
                <a:endParaRPr lang="en-CN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CN" sz="2400" dirty="0">
                    <a:effectLst/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 ,</m:t>
                    </m:r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 ,</m:t>
                    </m:r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≥0,</m:t>
                    </m:r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≥0 </m:t>
                    </m:r>
                  </m:oMath>
                </a14:m>
                <a:endParaRPr lang="en-CN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所以有</a:t>
                </a:r>
                <a:r>
                  <a:rPr lang="en-US" altLang="zh-CN" sz="2400" dirty="0">
                    <a:effectLst/>
                    <a:latin typeface="+mn-ea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N" sz="2400" i="1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N" sz="2400" i="1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N" sz="2400" i="1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)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N" sz="2400" i="1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CN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因此，定理的结论成立。</a:t>
                </a:r>
                <a:endParaRPr lang="en-CN" sz="2400" dirty="0">
                  <a:effectLst/>
                  <a:latin typeface="+mn-ea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EDF288-EF30-8F31-3323-337E45EB0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09" y="2601234"/>
                <a:ext cx="10866107" cy="4012189"/>
              </a:xfrm>
              <a:prstGeom prst="rect">
                <a:avLst/>
              </a:prstGeom>
              <a:blipFill>
                <a:blip r:embed="rId4"/>
                <a:stretch>
                  <a:fillRect l="-841" b="-1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49310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107" name="Rectangle 3">
                <a:extLst>
                  <a:ext uri="{FF2B5EF4-FFF2-40B4-BE49-F238E27FC236}">
                    <a16:creationId xmlns:a16="http://schemas.microsoft.com/office/drawing/2014/main" id="{0548AC50-E3A4-4C31-A8EB-C1BE929CDB14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164453" y="240807"/>
                <a:ext cx="9863092" cy="1574864"/>
              </a:xfrm>
            </p:spPr>
            <p:txBody>
              <a:bodyPr/>
              <a:lstStyle/>
              <a:p>
                <a:pPr eaLnBrk="1" hangingPunct="1">
                  <a:buFontTx/>
                  <a:buNone/>
                </a:pPr>
                <a:r>
                  <a:rPr lang="zh-CN" altLang="en-US" sz="2400" b="1" dirty="0">
                    <a:latin typeface="+mn-ea"/>
                  </a:rPr>
                  <a:t>推论：</a:t>
                </a:r>
              </a:p>
              <a:p>
                <a:pPr>
                  <a:buNone/>
                </a:pPr>
                <a:r>
                  <a:rPr lang="en-US" altLang="zh-CN" sz="2400" dirty="0">
                    <a:latin typeface="+mn-ea"/>
                  </a:rPr>
                  <a:t>(1)</a:t>
                </a:r>
                <a14:m>
                  <m:oMath xmlns:m="http://schemas.openxmlformats.org/officeDocument/2006/math">
                    <m:r>
                      <a:rPr lang="zh-CN" alt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𝑚𝑎𝑥</m:t>
                    </m:r>
                  </m:oMath>
                </a14:m>
                <a:r>
                  <a:rPr lang="zh-CN" altLang="en-US" sz="2400" dirty="0">
                    <a:latin typeface="+mn-ea"/>
                  </a:rPr>
                  <a:t>问题任一可行解的目标值为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𝑚𝑖𝑛</m:t>
                    </m:r>
                  </m:oMath>
                </a14:m>
                <a:r>
                  <a:rPr lang="zh-CN" altLang="en-US" sz="2400" dirty="0">
                    <a:latin typeface="+mn-ea"/>
                  </a:rPr>
                  <a:t>问题目标值的一个下界；</a:t>
                </a:r>
              </a:p>
              <a:p>
                <a:pPr>
                  <a:buNone/>
                </a:pPr>
                <a:r>
                  <a:rPr lang="en-US" altLang="zh-CN" sz="2400" dirty="0">
                    <a:latin typeface="+mn-ea"/>
                  </a:rPr>
                  <a:t>(2)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𝑚𝑖𝑛</m:t>
                    </m:r>
                  </m:oMath>
                </a14:m>
                <a:r>
                  <a:rPr lang="zh-CN" altLang="en-US" sz="2400" dirty="0">
                    <a:latin typeface="+mn-ea"/>
                  </a:rPr>
                  <a:t>问题任一可行解的目标值为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𝑚𝑎𝑥</m:t>
                    </m:r>
                  </m:oMath>
                </a14:m>
                <a:r>
                  <a:rPr lang="zh-CN" altLang="en-US" sz="2400" dirty="0">
                    <a:latin typeface="+mn-ea"/>
                  </a:rPr>
                  <a:t>问题目标值的一个上界；</a:t>
                </a:r>
              </a:p>
            </p:txBody>
          </p:sp>
        </mc:Choice>
        <mc:Fallback xmlns="">
          <p:sp>
            <p:nvSpPr>
              <p:cNvPr id="47107" name="Rectangle 3">
                <a:extLst>
                  <a:ext uri="{FF2B5EF4-FFF2-40B4-BE49-F238E27FC236}">
                    <a16:creationId xmlns:a16="http://schemas.microsoft.com/office/drawing/2014/main" id="{0548AC50-E3A4-4C31-A8EB-C1BE929CDB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4453" y="240807"/>
                <a:ext cx="9863092" cy="1574864"/>
              </a:xfrm>
              <a:blipFill>
                <a:blip r:embed="rId3"/>
                <a:stretch>
                  <a:fillRect l="-927" t="-50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10" name="Text Box 6">
            <a:extLst>
              <a:ext uri="{FF2B5EF4-FFF2-40B4-BE49-F238E27FC236}">
                <a16:creationId xmlns:a16="http://schemas.microsoft.com/office/drawing/2014/main" id="{E9AE3D82-4086-4ADE-A6DF-A77FBF5E9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603" y="5497353"/>
            <a:ext cx="951279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8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8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8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8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8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注：该性质的逆不存在。若原(对偶)问题为无可行解，对偶(原问题)问题或为无界解，或为无可行解。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E72EA72-7DB9-4711-8E90-BD2BE2578808}"/>
                  </a:ext>
                </a:extLst>
              </p:cNvPr>
              <p:cNvSpPr txBox="1"/>
              <p:nvPr/>
            </p:nvSpPr>
            <p:spPr>
              <a:xfrm>
                <a:off x="1164453" y="1815671"/>
                <a:ext cx="10056921" cy="35183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defTabSz="914400">
                  <a:lnSpc>
                    <a:spcPct val="90000"/>
                  </a:lnSpc>
                  <a:spcBef>
                    <a:spcPts val="1000"/>
                  </a:spcBef>
                  <a:buFontTx/>
                  <a:buNone/>
                  <a:defRPr sz="2400"/>
                </a:lvl1pPr>
                <a:lvl2pPr marL="6858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/>
                </a:lvl2pPr>
                <a:lvl3pPr marL="11430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/>
                </a:lvl3pPr>
                <a:lvl4pPr marL="16002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4pPr>
                <a:lvl5pPr marL="20574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5pPr>
                <a:lvl6pPr marL="25146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 defTabSz="9144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10000"/>
                  </a:lnSpc>
                </a:pPr>
                <a:r>
                  <a:rPr lang="en-US" altLang="zh-CN" dirty="0">
                    <a:latin typeface="+mn-ea"/>
                  </a:rPr>
                  <a:t>(3) </a:t>
                </a:r>
                <a:r>
                  <a:rPr lang="zh-CN" altLang="zh-CN" dirty="0">
                    <a:latin typeface="+mn-ea"/>
                  </a:rPr>
                  <a:t>如果</a:t>
                </a:r>
                <a:r>
                  <a:rPr lang="en-US" altLang="zh-CN" dirty="0">
                    <a:latin typeface="+mn-ea"/>
                  </a:rPr>
                  <a:t>(LP)</a:t>
                </a:r>
                <a:r>
                  <a:rPr lang="zh-CN" altLang="zh-CN" dirty="0">
                    <a:latin typeface="+mn-ea"/>
                  </a:rPr>
                  <a:t>的目标函数值在可行域上无下界，则</a:t>
                </a:r>
                <a:r>
                  <a:rPr lang="en-US" altLang="zh-CN" dirty="0">
                    <a:latin typeface="+mn-ea"/>
                  </a:rPr>
                  <a:t>(LD)</a:t>
                </a:r>
                <a:r>
                  <a:rPr lang="zh-CN" altLang="zh-CN" dirty="0">
                    <a:latin typeface="+mn-ea"/>
                  </a:rPr>
                  <a:t>必无可行解；</a:t>
                </a:r>
                <a:endParaRPr lang="en-US" altLang="zh-CN" dirty="0">
                  <a:latin typeface="+mn-ea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zh-CN" dirty="0">
                    <a:latin typeface="+mn-ea"/>
                  </a:rPr>
                  <a:t>     </a:t>
                </a:r>
                <a:r>
                  <a:rPr lang="zh-CN" altLang="zh-CN" dirty="0">
                    <a:latin typeface="+mn-ea"/>
                  </a:rPr>
                  <a:t>如果</a:t>
                </a:r>
                <a:r>
                  <a:rPr lang="en-US" altLang="zh-CN" dirty="0">
                    <a:latin typeface="+mn-ea"/>
                  </a:rPr>
                  <a:t>(LD)</a:t>
                </a:r>
                <a:r>
                  <a:rPr lang="zh-CN" altLang="zh-CN" dirty="0">
                    <a:latin typeface="+mn-ea"/>
                  </a:rPr>
                  <a:t>的目标函数值在可行域上无上界，则</a:t>
                </a:r>
                <a:r>
                  <a:rPr lang="en-US" altLang="zh-CN" dirty="0">
                    <a:latin typeface="+mn-ea"/>
                  </a:rPr>
                  <a:t>(LP)</a:t>
                </a:r>
                <a:r>
                  <a:rPr lang="zh-CN" altLang="zh-CN" dirty="0">
                    <a:latin typeface="+mn-ea"/>
                  </a:rPr>
                  <a:t>必无可行解</a:t>
                </a:r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zh-CN" altLang="en-US" dirty="0">
                    <a:latin typeface="+mn-ea"/>
                  </a:rPr>
                  <a:t>    </a:t>
                </a:r>
                <a:r>
                  <a:rPr lang="zh-CN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证明：</a:t>
                </a:r>
                <a:endParaRPr lang="en-US" altLang="zh-CN" dirty="0">
                  <a:solidFill>
                    <a:schemeClr val="bg1">
                      <a:lumMod val="65000"/>
                    </a:schemeClr>
                  </a:solidFill>
                  <a:latin typeface="+mn-ea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zh-CN" altLang="en-US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    </a:t>
                </a:r>
                <a:r>
                  <a:rPr lang="zh-CN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假设</a:t>
                </a:r>
                <a:r>
                  <a:rPr lang="en-US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(LD)</a:t>
                </a:r>
                <a:r>
                  <a:rPr lang="zh-CN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有可行解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存在，则对</a:t>
                </a:r>
                <a:r>
                  <a:rPr lang="en-US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(LP)</a:t>
                </a:r>
                <a:r>
                  <a:rPr lang="zh-CN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的任一可行解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都应有</a:t>
                </a:r>
                <a:endParaRPr lang="en-US" altLang="zh-CN" dirty="0">
                  <a:solidFill>
                    <a:schemeClr val="bg1">
                      <a:lumMod val="65000"/>
                    </a:schemeClr>
                  </a:solidFill>
                  <a:latin typeface="+mn-ea"/>
                </a:endParaRPr>
              </a:p>
              <a:p>
                <a:pPr algn="ctr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CN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zh-CN" altLang="zh-CN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CN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CN" altLang="zh-CN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CN" altLang="zh-CN" dirty="0">
                  <a:solidFill>
                    <a:schemeClr val="bg1">
                      <a:lumMod val="65000"/>
                    </a:schemeClr>
                  </a:solidFill>
                  <a:latin typeface="+mn-ea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    </a:t>
                </a:r>
                <a:r>
                  <a:rPr lang="zh-CN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这就与</a:t>
                </a:r>
                <a:r>
                  <a:rPr lang="en-US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(LP)</a:t>
                </a:r>
                <a:r>
                  <a:rPr lang="zh-CN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的目标函数值在可行域上无下界矛盾，故</a:t>
                </a:r>
                <a:r>
                  <a:rPr lang="en-US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(LD)</a:t>
                </a:r>
                <a:r>
                  <a:rPr lang="zh-CN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必无可行解</a:t>
                </a:r>
                <a:r>
                  <a:rPr lang="zh-CN" altLang="en-US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。</a:t>
                </a:r>
                <a:r>
                  <a:rPr lang="zh-CN" altLang="zh-CN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类似地，可以证明推论中的后一个结果</a:t>
                </a:r>
                <a:r>
                  <a:rPr lang="zh-CN" altLang="en-US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。</a:t>
                </a:r>
                <a:endParaRPr lang="zh-CN" altLang="zh-CN" dirty="0">
                  <a:solidFill>
                    <a:schemeClr val="bg1">
                      <a:lumMod val="65000"/>
                    </a:schemeClr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E72EA72-7DB9-4711-8E90-BD2BE2578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453" y="1815671"/>
                <a:ext cx="10056921" cy="3518329"/>
              </a:xfrm>
              <a:prstGeom prst="rect">
                <a:avLst/>
              </a:prstGeom>
              <a:blipFill>
                <a:blip r:embed="rId9"/>
                <a:stretch>
                  <a:fillRect l="-909" t="-693" b="-6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3494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0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ED19CE4-04E2-4B46-8956-2116AEEBC825}"/>
                  </a:ext>
                </a:extLst>
              </p:cNvPr>
              <p:cNvSpPr txBox="1"/>
              <p:nvPr/>
            </p:nvSpPr>
            <p:spPr>
              <a:xfrm>
                <a:off x="479167" y="340965"/>
                <a:ext cx="6049108" cy="5877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例</a:t>
                </a: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：原问题</a:t>
                </a:r>
              </a:p>
              <a:p>
                <a:pPr indent="6096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CN" sz="2400" i="1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min</m:t>
                          </m:r>
                        </m:fName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2</m:t>
                          </m:r>
                          <m:sSub>
                            <m:sSub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+3</m:t>
                          </m:r>
                          <m:sSub>
                            <m:sSub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𝑡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=−1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 </m:t>
                      </m:r>
                    </m:oMath>
                  </m:oMathPara>
                </a14:m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en-US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         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无可行解。</a:t>
                </a:r>
                <a:endParaRPr lang="en-US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en-US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         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对偶问题</a:t>
                </a:r>
              </a:p>
              <a:p>
                <a:pPr indent="6096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max</m:t>
                          </m:r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CN" sz="2400" i="1" dirty="0">
                  <a:latin typeface="Cambria Math" panose="02040503050406030204" pitchFamily="18" charset="0"/>
                  <a:ea typeface="SimSun" panose="02010600030101010101" pitchFamily="2" charset="-122"/>
                </a:endParaRPr>
              </a:p>
              <a:p>
                <a:pPr indent="6096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𝑡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𝑦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≤2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𝑦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≤3</m:t>
                              </m:r>
                            </m:e>
                          </m:eqAr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 </m:t>
                      </m:r>
                    </m:oMath>
                  </m:oMathPara>
                </a14:m>
                <a:endParaRPr lang="en-CN" sz="2400" i="1" dirty="0">
                  <a:latin typeface="Cambria Math" panose="02040503050406030204" pitchFamily="18" charset="0"/>
                  <a:ea typeface="SimSun" panose="02010600030101010101" pitchFamily="2" charset="-122"/>
                </a:endParaRPr>
              </a:p>
              <a:p>
                <a:pPr algn="just">
                  <a:lnSpc>
                    <a:spcPct val="120000"/>
                  </a:lnSpc>
                </a:pPr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有可行解。</a:t>
                </a: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ED19CE4-04E2-4B46-8956-2116AEEBC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67" y="340965"/>
                <a:ext cx="6049108" cy="5877186"/>
              </a:xfrm>
              <a:prstGeom prst="rect">
                <a:avLst/>
              </a:prstGeom>
              <a:blipFill>
                <a:blip r:embed="rId2"/>
                <a:stretch>
                  <a:fillRect l="-1613" t="-207" b="-17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6632107-E34F-B60D-EDEB-E15564635B01}"/>
                  </a:ext>
                </a:extLst>
              </p:cNvPr>
              <p:cNvSpPr txBox="1"/>
              <p:nvPr/>
            </p:nvSpPr>
            <p:spPr>
              <a:xfrm>
                <a:off x="5594184" y="235912"/>
                <a:ext cx="6049108" cy="64079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例</a:t>
                </a: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：原问题</a:t>
                </a:r>
              </a:p>
              <a:p>
                <a:pPr indent="6096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CN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min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 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𝑤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=</m:t>
                          </m:r>
                        </m:fName>
                        <m:e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CN" altLang="zh-CN" sz="24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𝑡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≥1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 </m:t>
                      </m:r>
                    </m:oMath>
                  </m:oMathPara>
                </a14:m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en-US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         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无可行解。</a:t>
                </a:r>
                <a:endParaRPr lang="en-US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en-US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         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对偶问题</a:t>
                </a:r>
              </a:p>
              <a:p>
                <a:pPr indent="6096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CN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m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𝑎𝑥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 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𝑧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=</m:t>
                          </m:r>
                        </m:fName>
                        <m:e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CN" altLang="zh-CN" sz="24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𝑡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≤−1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≤−1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 </m:t>
                      </m:r>
                    </m:oMath>
                  </m:oMathPara>
                </a14:m>
                <a:endParaRPr lang="en-CN" sz="2400" i="1" dirty="0">
                  <a:latin typeface="Cambria Math" panose="02040503050406030204" pitchFamily="18" charset="0"/>
                  <a:ea typeface="SimSun" panose="02010600030101010101" pitchFamily="2" charset="-122"/>
                </a:endParaRPr>
              </a:p>
              <a:p>
                <a:pPr algn="just">
                  <a:lnSpc>
                    <a:spcPct val="120000"/>
                  </a:lnSpc>
                </a:pPr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无可行解。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6632107-E34F-B60D-EDEB-E15564635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184" y="235912"/>
                <a:ext cx="6049108" cy="6407908"/>
              </a:xfrm>
              <a:prstGeom prst="rect">
                <a:avLst/>
              </a:prstGeom>
              <a:blipFill>
                <a:blip r:embed="rId3"/>
                <a:stretch>
                  <a:fillRect l="-1613" t="-190" b="-12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D80F1B4-A7F0-9B2D-A519-E903082A3AF0}"/>
              </a:ext>
            </a:extLst>
          </p:cNvPr>
          <p:cNvCxnSpPr/>
          <p:nvPr/>
        </p:nvCxnSpPr>
        <p:spPr>
          <a:xfrm>
            <a:off x="328474" y="3568823"/>
            <a:ext cx="115054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BE0A79-85AE-1336-688D-3A76D67DED9A}"/>
                  </a:ext>
                </a:extLst>
              </p:cNvPr>
              <p:cNvSpPr txBox="1"/>
              <p:nvPr/>
            </p:nvSpPr>
            <p:spPr>
              <a:xfrm>
                <a:off x="463061" y="917864"/>
                <a:ext cx="11265877" cy="5033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+mn-ea"/>
                  </a:rPr>
                  <a:t>定理</a:t>
                </a:r>
                <a:r>
                  <a:rPr lang="en-US" altLang="zh-CN" sz="2400" b="1" dirty="0">
                    <a:effectLst/>
                    <a:latin typeface="+mn-ea"/>
                  </a:rPr>
                  <a:t>3-</a:t>
                </a:r>
                <a:r>
                  <a:rPr lang="en-CN" sz="2400" b="1" dirty="0">
                    <a:effectLst/>
                    <a:latin typeface="+mn-ea"/>
                  </a:rPr>
                  <a:t>2</a:t>
                </a:r>
                <a:r>
                  <a:rPr lang="zh-CN" sz="2400" b="1" dirty="0">
                    <a:effectLst/>
                    <a:latin typeface="+mn-ea"/>
                  </a:rPr>
                  <a:t>（最优性定理）</a:t>
                </a:r>
                <a:r>
                  <a:rPr lang="zh-CN" sz="2400" dirty="0">
                    <a:effectLst/>
                    <a:latin typeface="+mn-ea"/>
                  </a:rPr>
                  <a:t>若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分别是（</a:t>
                </a:r>
                <a:r>
                  <a:rPr lang="en-CN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）和（</a:t>
                </a:r>
                <a:r>
                  <a:rPr lang="en-CN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）的可行解，则（</a:t>
                </a:r>
                <a:r>
                  <a:rPr lang="en-CN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）和（</a:t>
                </a:r>
                <a:r>
                  <a:rPr lang="en-CN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）都有最优解，且当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CN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时，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分别是（</a:t>
                </a:r>
                <a:r>
                  <a:rPr lang="en-CN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）和（</a:t>
                </a:r>
                <a:r>
                  <a:rPr lang="en-CN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）的最优解。</a:t>
                </a:r>
                <a:endParaRPr lang="en-CN" sz="2400" dirty="0">
                  <a:effectLst/>
                  <a:latin typeface="+mn-ea"/>
                </a:endParaRPr>
              </a:p>
              <a:p>
                <a:pPr indent="6096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证明：根据定理</a:t>
                </a:r>
                <a:r>
                  <a:rPr lang="en-US" altLang="zh-CN" sz="2400" dirty="0">
                    <a:effectLst/>
                    <a:latin typeface="+mn-ea"/>
                  </a:rPr>
                  <a:t>3-</a:t>
                </a:r>
                <a:r>
                  <a:rPr lang="en-US" sz="2400" dirty="0">
                    <a:effectLst/>
                    <a:latin typeface="+mn-ea"/>
                  </a:rPr>
                  <a:t>1</a:t>
                </a:r>
                <a:r>
                  <a:rPr lang="zh-CN" sz="2400" dirty="0">
                    <a:effectLst/>
                    <a:latin typeface="+mn-ea"/>
                  </a:rPr>
                  <a:t>，对线性规划（</a:t>
                </a:r>
                <a:r>
                  <a:rPr lang="en-CN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）的任一可行解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sz="2400" dirty="0">
                    <a:effectLst/>
                    <a:latin typeface="+mn-ea"/>
                  </a:rPr>
                  <a:t>，均有</a:t>
                </a:r>
                <a:endParaRPr lang="en-CN" sz="2400" dirty="0">
                  <a:effectLst/>
                  <a:latin typeface="+mn-ea"/>
                </a:endParaRPr>
              </a:p>
              <a:p>
                <a:pPr indent="6096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CN" sz="2400" i="1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400" i="1" dirty="0">
                  <a:effectLst/>
                  <a:latin typeface="+mn-ea"/>
                </a:endParaRPr>
              </a:p>
              <a:p>
                <a:pPr indent="6096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这说明（</a:t>
                </a:r>
                <a:r>
                  <a:rPr lang="en-CN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）的目标函数在其可行域内有下界，故有有限的最小值，从而 （</a:t>
                </a:r>
                <a:r>
                  <a:rPr lang="en-CN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）有最优解。类似地，可以证明 （</a:t>
                </a:r>
                <a:r>
                  <a:rPr lang="en-CN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）也有最优解。</a:t>
                </a:r>
                <a:endParaRPr lang="en-CN" sz="2400" dirty="0">
                  <a:effectLst/>
                  <a:latin typeface="+mn-ea"/>
                </a:endParaRPr>
              </a:p>
              <a:p>
                <a:pPr indent="6096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CN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CN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，根据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CN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知，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CN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，因此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为（</a:t>
                </a:r>
                <a:r>
                  <a:rPr lang="en-CN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）的最优解。同理，可以证明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是（</a:t>
                </a:r>
                <a:r>
                  <a:rPr lang="en-CN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）的最优解。</a:t>
                </a:r>
                <a:endParaRPr lang="en-CN" sz="2400" dirty="0">
                  <a:effectLst/>
                  <a:latin typeface="+mn-ea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BE0A79-85AE-1336-688D-3A76D67DE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061" y="917864"/>
                <a:ext cx="11265877" cy="5033429"/>
              </a:xfrm>
              <a:prstGeom prst="rect">
                <a:avLst/>
              </a:prstGeom>
              <a:blipFill>
                <a:blip r:embed="rId2"/>
                <a:stretch>
                  <a:fillRect l="-866" r="-3517" b="-1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3B6C04-6A4D-44EB-654E-2F4F1BB58A97}"/>
                  </a:ext>
                </a:extLst>
              </p:cNvPr>
              <p:cNvSpPr txBox="1"/>
              <p:nvPr/>
            </p:nvSpPr>
            <p:spPr>
              <a:xfrm>
                <a:off x="433754" y="761282"/>
                <a:ext cx="11324492" cy="541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+mn-ea"/>
                  </a:rPr>
                  <a:t>定理</a:t>
                </a:r>
                <a:r>
                  <a:rPr lang="en-US" altLang="zh-CN" sz="2400" b="1" dirty="0">
                    <a:effectLst/>
                    <a:latin typeface="+mn-ea"/>
                  </a:rPr>
                  <a:t>3-</a:t>
                </a:r>
                <a:r>
                  <a:rPr lang="en-CN" sz="2400" b="1" dirty="0">
                    <a:effectLst/>
                    <a:latin typeface="+mn-ea"/>
                  </a:rPr>
                  <a:t>3</a:t>
                </a:r>
                <a:r>
                  <a:rPr lang="zh-CN" sz="2400" b="1" dirty="0">
                    <a:effectLst/>
                    <a:latin typeface="+mn-ea"/>
                  </a:rPr>
                  <a:t>（强对偶性定理）</a:t>
                </a:r>
                <a:r>
                  <a:rPr lang="zh-CN" sz="2400" dirty="0">
                    <a:effectLst/>
                    <a:latin typeface="+mn-ea"/>
                  </a:rPr>
                  <a:t>若（</a:t>
                </a:r>
                <a:r>
                  <a:rPr lang="en-CN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）和（</a:t>
                </a:r>
                <a:r>
                  <a:rPr lang="en-CN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）中有一个有最优解，则另一个问题也必存在最优解，且两个问题最优解的目标函数值必相等。</a:t>
                </a:r>
                <a:endParaRPr lang="en-CN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证明：假设原问题（</a:t>
                </a:r>
                <a:r>
                  <a:rPr lang="en-CN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）存在最优解，根据</a:t>
                </a:r>
                <a:r>
                  <a:rPr lang="zh-CN" altLang="en-US" sz="2400" dirty="0">
                    <a:effectLst/>
                    <a:latin typeface="+mn-ea"/>
                  </a:rPr>
                  <a:t>基本性质部分的</a:t>
                </a:r>
                <a:r>
                  <a:rPr lang="zh-CN" sz="2400" dirty="0">
                    <a:effectLst/>
                    <a:latin typeface="+mn-ea"/>
                  </a:rPr>
                  <a:t>定理</a:t>
                </a:r>
                <a:r>
                  <a:rPr lang="en-US" altLang="zh-CN" sz="2400" dirty="0">
                    <a:effectLst/>
                    <a:latin typeface="+mn-ea"/>
                  </a:rPr>
                  <a:t>1-3</a:t>
                </a:r>
                <a:r>
                  <a:rPr lang="zh-CN" sz="2400" dirty="0">
                    <a:effectLst/>
                    <a:latin typeface="+mn-ea"/>
                  </a:rPr>
                  <a:t>知，一定存在一个基本可行解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latin typeface="+mn-ea"/>
                  </a:rPr>
                  <a:t>是其最优解</a:t>
                </a:r>
                <a:r>
                  <a:rPr lang="zh-CN" altLang="en-US" sz="2400" dirty="0">
                    <a:effectLst/>
                    <a:latin typeface="+mn-ea"/>
                  </a:rPr>
                  <a:t>。</a:t>
                </a:r>
                <a:r>
                  <a:rPr lang="zh-CN" sz="2400" dirty="0">
                    <a:effectLst/>
                    <a:latin typeface="+mn-ea"/>
                  </a:rPr>
                  <a:t>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latin typeface="+mn-ea"/>
                  </a:rPr>
                  <a:t>所对应的基为</a:t>
                </a:r>
                <a14:m>
                  <m:oMath xmlns:m="http://schemas.openxmlformats.org/officeDocument/2006/math"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sz="2400" dirty="0">
                    <a:effectLst/>
                    <a:latin typeface="+mn-ea"/>
                  </a:rPr>
                  <a:t>，</a:t>
                </a:r>
                <a:r>
                  <a:rPr lang="zh-CN" altLang="en-US" sz="2400" dirty="0">
                    <a:effectLst/>
                    <a:latin typeface="+mn-ea"/>
                  </a:rPr>
                  <a:t>由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effectLst/>
                        <a:latin typeface="Cambria Math" panose="02040503050406030204" pitchFamily="18" charset="0"/>
                      </a:rPr>
                      <m:t>2.5.1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节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分析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，</m:t>
                    </m:r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>
                    <a:effectLst/>
                    <a:latin typeface="+mn-ea"/>
                  </a:rPr>
                  <a:t>处</a:t>
                </a:r>
                <a:r>
                  <a:rPr lang="zh-CN" sz="2400" dirty="0">
                    <a:effectLst/>
                    <a:latin typeface="+mn-ea"/>
                  </a:rPr>
                  <a:t>的目标函数值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sz="2400" dirty="0">
                    <a:effectLst/>
                    <a:latin typeface="+mn-ea"/>
                  </a:rPr>
                  <a:t>，且各变量的检验数</a:t>
                </a:r>
                <a:endParaRPr lang="en-CN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CN" sz="2400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p>
                        <m:s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≥0,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=1,2,⋯,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CN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取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latin typeface="+mn-ea"/>
                  </a:rPr>
                  <a:t>，于是上式可化成 </a:t>
                </a:r>
                <a:endParaRPr lang="en-CN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≥0,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=1,2,⋯,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CN" sz="2400" dirty="0">
                  <a:effectLst/>
                  <a:latin typeface="+mn-ea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3B6C04-6A4D-44EB-654E-2F4F1BB58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54" y="761282"/>
                <a:ext cx="11324492" cy="5416676"/>
              </a:xfrm>
              <a:prstGeom prst="rect">
                <a:avLst/>
              </a:prstGeom>
              <a:blipFill>
                <a:blip r:embed="rId2"/>
                <a:stretch>
                  <a:fillRect l="-8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90F1D0B1-EA27-3261-AE9C-4E21FF504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467" y="5734050"/>
            <a:ext cx="3648075" cy="11239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20689C5-87ED-4D65-8D1C-B1B76A962D21}"/>
              </a:ext>
            </a:extLst>
          </p:cNvPr>
          <p:cNvSpPr txBox="1"/>
          <p:nvPr/>
        </p:nvSpPr>
        <p:spPr>
          <a:xfrm>
            <a:off x="776469" y="3300602"/>
            <a:ext cx="10533683" cy="11350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注：单纯形法在始终保持原问题解的可行性条件下，使其对偶问题的解由不可行向可行转化，一旦是对偶问题可行，则原问题和对偶问题同时达到最优。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3B6C04-6A4D-44EB-654E-2F4F1BB58A97}"/>
                  </a:ext>
                </a:extLst>
              </p:cNvPr>
              <p:cNvSpPr txBox="1"/>
              <p:nvPr/>
            </p:nvSpPr>
            <p:spPr>
              <a:xfrm>
                <a:off x="776469" y="689911"/>
                <a:ext cx="11887200" cy="2000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latin typeface="+mn-ea"/>
                  </a:rPr>
                  <a:t>满足（</a:t>
                </a:r>
                <a:r>
                  <a:rPr lang="en-CN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</a:t>
                </a:r>
                <a:r>
                  <a:rPr lang="zh-CN" altLang="en-US" sz="2400" dirty="0">
                    <a:effectLst/>
                    <a:latin typeface="+mn-ea"/>
                  </a:rPr>
                  <a:t>不等式</a:t>
                </a:r>
                <a:r>
                  <a:rPr lang="zh-CN" sz="2400" dirty="0">
                    <a:effectLst/>
                    <a:latin typeface="+mn-ea"/>
                  </a:rPr>
                  <a:t>约束，从而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latin typeface="+mn-ea"/>
                  </a:rPr>
                  <a:t>是（</a:t>
                </a:r>
                <a:r>
                  <a:rPr lang="en-CN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）的一个可行解。又</a:t>
                </a:r>
                <a:endParaRPr lang="en-CN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p>
                        <m:s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CN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根据定理</a:t>
                </a:r>
                <a:r>
                  <a:rPr lang="en-US" altLang="zh-CN" sz="2400" dirty="0">
                    <a:effectLst/>
                    <a:latin typeface="+mn-ea"/>
                  </a:rPr>
                  <a:t>3-</a:t>
                </a:r>
                <a:r>
                  <a:rPr lang="en-CN" sz="2400" dirty="0">
                    <a:effectLst/>
                    <a:latin typeface="+mn-ea"/>
                  </a:rPr>
                  <a:t>2</a:t>
                </a:r>
                <a:r>
                  <a:rPr lang="zh-CN" sz="2400" dirty="0">
                    <a:effectLst/>
                    <a:latin typeface="+mn-ea"/>
                  </a:rPr>
                  <a:t>知，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latin typeface="+mn-ea"/>
                  </a:rPr>
                  <a:t>是（</a:t>
                </a:r>
                <a:r>
                  <a:rPr lang="en-CN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）的最优解。</a:t>
                </a:r>
                <a:endParaRPr lang="en-CN" sz="2400" dirty="0">
                  <a:effectLst/>
                  <a:latin typeface="+mn-ea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3B6C04-6A4D-44EB-654E-2F4F1BB58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469" y="689911"/>
                <a:ext cx="11887200" cy="2000676"/>
              </a:xfrm>
              <a:prstGeom prst="rect">
                <a:avLst/>
              </a:prstGeom>
              <a:blipFill>
                <a:blip r:embed="rId2"/>
                <a:stretch>
                  <a:fillRect b="-27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051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6B484B8-3598-447B-B3B2-DE3A6B5EED2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748161" y="2278002"/>
            <a:ext cx="7772400" cy="1470025"/>
          </a:xfrm>
        </p:spPr>
        <p:txBody>
          <a:bodyPr anchor="ctr"/>
          <a:lstStyle/>
          <a:p>
            <a:r>
              <a:rPr lang="zh-CN" altLang="en-US" sz="4400" b="1" dirty="0"/>
              <a:t>对偶单纯形法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760664D-FAC9-BA18-5F9B-C4B62388AED8}"/>
              </a:ext>
            </a:extLst>
          </p:cNvPr>
          <p:cNvSpPr txBox="1"/>
          <p:nvPr/>
        </p:nvSpPr>
        <p:spPr>
          <a:xfrm>
            <a:off x="560173" y="1478882"/>
            <a:ext cx="11071653" cy="3346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08400" algn="just">
              <a:lnSpc>
                <a:spcPct val="150000"/>
              </a:lnSpc>
            </a:pP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单纯形法的迭代过程也可以理解为：是在始终保持原问题解的可行性条件下，使其对偶解由不可行向可行转化，一旦对偶解也成为了可行解，原问题和对偶问题同时达到了最优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2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08400" algn="just">
              <a:lnSpc>
                <a:spcPct val="150000"/>
              </a:lnSpc>
            </a:pP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当然，也可以设想另一条求解思路：即在迭代过程中，始终保持对偶问题解的可行性条件，而原问题的解由不可行向可行转化，一旦原问题的解也满足了可行性条件，对偶问题和原问题同时达到了最优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这正是对偶单纯形法的基本思路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2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2550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 Box 5">
            <a:extLst>
              <a:ext uri="{FF2B5EF4-FFF2-40B4-BE49-F238E27FC236}">
                <a16:creationId xmlns:a16="http://schemas.microsoft.com/office/drawing/2014/main" id="{BBA82CE7-A19E-4426-B466-C5D037E9B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64" y="408305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zh-CN" altLang="zh-CN" sz="2800">
              <a:latin typeface="Times New Roman" panose="02020603050405020304" pitchFamily="18" charset="0"/>
            </a:endParaRPr>
          </a:p>
        </p:txBody>
      </p:sp>
      <p:sp>
        <p:nvSpPr>
          <p:cNvPr id="20484" name="矩形 2">
            <a:extLst>
              <a:ext uri="{FF2B5EF4-FFF2-40B4-BE49-F238E27FC236}">
                <a16:creationId xmlns:a16="http://schemas.microsoft.com/office/drawing/2014/main" id="{D58DA4AC-A0C6-4B64-B77C-FE2C1DF15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487" y="448369"/>
            <a:ext cx="37914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对偶单纯形法计算步骤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FD0A75-D6ED-0879-35DE-4CC741DA390D}"/>
                  </a:ext>
                </a:extLst>
              </p:cNvPr>
              <p:cNvSpPr txBox="1"/>
              <p:nvPr/>
            </p:nvSpPr>
            <p:spPr>
              <a:xfrm>
                <a:off x="506027" y="1238028"/>
                <a:ext cx="11109325" cy="4246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a typeface="SimSong" panose="02020300000000000000" pitchFamily="18" charset="-122"/>
                  </a:rPr>
                  <a:t>定义</a:t>
                </a:r>
                <a:r>
                  <a:rPr lang="zh-CN" sz="2400" b="1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：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𝑥</m:t>
                    </m:r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是线性规划（</a:t>
                </a:r>
                <a:r>
                  <a:rPr lang="en-US" sz="2400" dirty="0">
                    <a:effectLst/>
                    <a:latin typeface="SimSun" panose="02010600030101010101" pitchFamily="2" charset="-122"/>
                    <a:ea typeface="Times New Roman" panose="02020603050405020304" pitchFamily="18" charset="0"/>
                  </a:rPr>
                  <a:t>LP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）对应于基阵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𝐵</m:t>
                    </m:r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的一个基本解，若它所对应的检验数向量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𝜎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𝑐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𝐵</m:t>
                        </m:r>
                      </m:sub>
                    </m:sSub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𝐵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𝐴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≥0</m:t>
                    </m:r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𝑥</m:t>
                    </m:r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是</a:t>
                </a:r>
                <a:r>
                  <a:rPr lang="en-US" sz="2400" dirty="0">
                    <a:effectLst/>
                    <a:latin typeface="SimSun" panose="02010600030101010101" pitchFamily="2" charset="-122"/>
                    <a:ea typeface="Times New Roman" panose="02020603050405020304" pitchFamily="18" charset="0"/>
                  </a:rPr>
                  <a:t>(LP)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的一个</a:t>
                </a:r>
                <a:r>
                  <a:rPr lang="zh-CN" sz="2400" b="1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对偶可行的基本解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。</a:t>
                </a:r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对偶单纯形法的算法步骤：</a:t>
                </a:r>
                <a:r>
                  <a:rPr lang="en-US" sz="2400" dirty="0">
                    <a:effectLst/>
                    <a:latin typeface="SimSun" panose="02010600030101010101" pitchFamily="2" charset="-122"/>
                    <a:ea typeface="Times New Roman" panose="02020603050405020304" pitchFamily="18" charset="0"/>
                  </a:rPr>
                  <a:t> </a:t>
                </a:r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 dirty="0">
                    <a:ea typeface="SimSong" panose="02020300000000000000" pitchFamily="18" charset="-122"/>
                  </a:rPr>
                  <a:t>第</a:t>
                </a:r>
                <a:r>
                  <a:rPr lang="en-US" sz="2400" b="1" dirty="0">
                    <a:ea typeface="SimSong" panose="02020300000000000000" pitchFamily="18" charset="-122"/>
                  </a:rPr>
                  <a:t>1</a:t>
                </a:r>
                <a:r>
                  <a:rPr lang="zh-CN" altLang="en-US" sz="2400" b="1" dirty="0">
                    <a:ea typeface="SimSong" panose="02020300000000000000" pitchFamily="18" charset="-122"/>
                  </a:rPr>
                  <a:t>步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</a:t>
                </a:r>
                <a:r>
                  <a:rPr lang="zh-CN" sz="24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选取一个初始对偶可行的基本解，对应的基阵为</a:t>
                </a:r>
                <a:r>
                  <a:rPr lang="en-US" sz="2400" b="1" dirty="0">
                    <a:solidFill>
                      <a:srgbClr val="FF0000"/>
                    </a:solidFill>
                    <a:effectLst/>
                    <a:latin typeface="SimSun" panose="02010600030101010101" pitchFamily="2" charset="-122"/>
                    <a:ea typeface="Times New Roman" panose="02020603050405020304" pitchFamily="18" charset="0"/>
                  </a:rPr>
                  <a:t>B</a:t>
                </a:r>
                <a:r>
                  <a:rPr lang="zh-CN" sz="24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，列出初始单纯形表。</a:t>
                </a:r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a typeface="SimSong" panose="02020300000000000000" pitchFamily="18" charset="-122"/>
                  </a:rPr>
                  <a:t>第</a:t>
                </a:r>
                <a:r>
                  <a:rPr lang="en-US" sz="2400" b="1" dirty="0">
                    <a:ea typeface="SimSong" panose="02020300000000000000" pitchFamily="18" charset="-122"/>
                  </a:rPr>
                  <a:t>2</a:t>
                </a:r>
                <a:r>
                  <a:rPr lang="zh-CN" sz="2400" b="1" dirty="0">
                    <a:ea typeface="SimSong" panose="02020300000000000000" pitchFamily="18" charset="-122"/>
                  </a:rPr>
                  <a:t>步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</a:t>
                </a:r>
                <a:r>
                  <a:rPr lang="zh-CN" sz="24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最优性检验。</a:t>
                </a:r>
                <a:r>
                  <a:rPr lang="zh-CN" sz="2400" b="1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计算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𝑏</m:t>
                        </m:r>
                      </m:e>
                    </m:acc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𝐵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𝑏</m:t>
                    </m:r>
                  </m:oMath>
                </a14:m>
                <a:r>
                  <a:rPr lang="zh-CN" sz="2400" b="1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，若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𝑏</m:t>
                        </m:r>
                      </m:e>
                    </m:acc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≥0</m:t>
                    </m:r>
                  </m:oMath>
                </a14:m>
                <a:r>
                  <a:rPr lang="zh-CN" sz="2400" b="1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，则停止计算，当前的对偶可行基本解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𝑥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𝑏</m:t>
                            </m:r>
                          </m:e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sz="2400" b="1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便是最优解；否则转下步。</a:t>
                </a:r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FD0A75-D6ED-0879-35DE-4CC741DA3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27" y="1238028"/>
                <a:ext cx="11109325" cy="4246932"/>
              </a:xfrm>
              <a:prstGeom prst="rect">
                <a:avLst/>
              </a:prstGeom>
              <a:blipFill>
                <a:blip r:embed="rId7"/>
                <a:stretch>
                  <a:fillRect l="-823" r="-2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38518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6D17D5-9C74-82CC-EA68-68435FECA6BF}"/>
                  </a:ext>
                </a:extLst>
              </p:cNvPr>
              <p:cNvSpPr txBox="1"/>
              <p:nvPr/>
            </p:nvSpPr>
            <p:spPr>
              <a:xfrm>
                <a:off x="245075" y="155315"/>
                <a:ext cx="11701849" cy="65473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第</a:t>
                </a:r>
                <a:r>
                  <a:rPr lang="en-CN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3</a:t>
                </a:r>
                <a:r>
                  <a:rPr lang="zh-CN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步 </a:t>
                </a:r>
                <a:r>
                  <a:rPr lang="zh-CN" sz="2400" dirty="0">
                    <a:solidFill>
                      <a:srgbClr val="FF0000"/>
                    </a:solidFill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确定离基变量。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根据公式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accPr>
                          <m:e>
                            <m: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𝑙</m:t>
                        </m:r>
                      </m:sub>
                    </m:sSub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𝑚𝑖𝑛</m:t>
                    </m:r>
                    <m:d>
                      <m:dPr>
                        <m:begChr m:val="{"/>
                        <m:endChr m:val="}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accPr>
                              <m:e>
                                <m: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|1≤</m:t>
                        </m:r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𝑖</m:t>
                        </m:r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≤</m:t>
                        </m:r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确定离基变量的指标为</a:t>
                </a:r>
                <a14:m>
                  <m:oMath xmlns:m="http://schemas.openxmlformats.org/officeDocument/2006/math"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𝑙</m:t>
                    </m:r>
                  </m:oMath>
                </a14:m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𝐵</m:t>
                            </m:r>
                          </m:e>
                          <m:sub>
                            <m: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𝑙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为离基变量。</a:t>
                </a:r>
                <a:endParaRPr lang="en-CN" sz="2400" dirty="0">
                  <a:effectLst/>
                  <a:latin typeface="SimSong" panose="02020300000000000000" pitchFamily="18" charset="-122"/>
                  <a:ea typeface="SimSong" panose="02020300000000000000" pitchFamily="18" charset="-122"/>
                </a:endParaRPr>
              </a:p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第</a:t>
                </a:r>
                <a:r>
                  <a:rPr lang="en-CN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4</a:t>
                </a:r>
                <a:r>
                  <a:rPr lang="zh-CN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步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 </a:t>
                </a:r>
                <a:r>
                  <a:rPr lang="zh-CN" sz="2400" dirty="0">
                    <a:solidFill>
                      <a:srgbClr val="FF0000"/>
                    </a:solidFill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检查单纯形表中第</a:t>
                </a:r>
                <a14:m>
                  <m:oMath xmlns:m="http://schemas.openxmlformats.org/officeDocument/2006/math">
                    <m:r>
                      <a:rPr lang="en-CN" sz="24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𝑙</m:t>
                    </m:r>
                  </m:oMath>
                </a14:m>
                <a:r>
                  <a:rPr lang="zh-CN" sz="2400" dirty="0">
                    <a:solidFill>
                      <a:srgbClr val="FF0000"/>
                    </a:solidFill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行的系数。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若对所有的</a:t>
                </a:r>
                <a14:m>
                  <m:oMath xmlns:m="http://schemas.openxmlformats.org/officeDocument/2006/math"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𝑗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=1,2,⋯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𝑛</m:t>
                    </m:r>
                  </m:oMath>
                </a14:m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，都有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accPr>
                          <m:e>
                            <m: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𝑙𝑗</m:t>
                        </m:r>
                      </m:sub>
                    </m:sSub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≥0</m:t>
                    </m:r>
                  </m:oMath>
                </a14:m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，则原问题（</a:t>
                </a:r>
                <a:r>
                  <a:rPr lang="en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LP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）无可行解；否则转下一步。</a:t>
                </a:r>
                <a:endParaRPr lang="en-CN" sz="2400" dirty="0">
                  <a:effectLst/>
                  <a:latin typeface="SimSong" panose="02020300000000000000" pitchFamily="18" charset="-122"/>
                  <a:ea typeface="SimSong" panose="02020300000000000000" pitchFamily="18" charset="-122"/>
                </a:endParaRPr>
              </a:p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第</a:t>
                </a:r>
                <a:r>
                  <a:rPr lang="en-CN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5</a:t>
                </a:r>
                <a:r>
                  <a:rPr lang="zh-CN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步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 </a:t>
                </a:r>
                <a:r>
                  <a:rPr lang="zh-CN" sz="2400" dirty="0">
                    <a:solidFill>
                      <a:srgbClr val="FF0000"/>
                    </a:solidFill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确定进基变量。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根据如下公式确定进基变量的指标</a:t>
                </a:r>
                <a14:m>
                  <m:oMath xmlns:m="http://schemas.openxmlformats.org/officeDocument/2006/math"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𝑘</m:t>
                    </m:r>
                  </m:oMath>
                </a14:m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：</a:t>
                </a:r>
                <a:endParaRPr lang="en-CN" sz="2400" dirty="0">
                  <a:effectLst/>
                  <a:latin typeface="SimSong" panose="02020300000000000000" pitchFamily="18" charset="-122"/>
                  <a:ea typeface="SimSong" panose="02020300000000000000" pitchFamily="18" charset="-122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𝜃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𝑙𝑘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𝑚𝑎𝑥</m:t>
                      </m:r>
                      <m:d>
                        <m:dPr>
                          <m:begChr m:val="{"/>
                          <m:endChr m:val="}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𝑙𝑗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|</m:t>
                          </m:r>
                          <m:sSub>
                            <m:sSub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𝑙𝑗</m:t>
                              </m:r>
                            </m:sub>
                          </m:sSub>
                          <m: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&lt;0,</m:t>
                          </m:r>
                          <m: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𝑗</m:t>
                          </m:r>
                          <m: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sz="2400" dirty="0">
                  <a:effectLst/>
                  <a:latin typeface="SimSong" panose="02020300000000000000" pitchFamily="18" charset="-122"/>
                  <a:ea typeface="SimSong" panose="02020300000000000000" pitchFamily="18" charset="-122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故，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为进基变量</a:t>
                </a:r>
                <a:r>
                  <a:rPr lang="zh-CN" altLang="en-US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。</a:t>
                </a:r>
                <a:endParaRPr lang="en-CN" sz="2400" dirty="0">
                  <a:effectLst/>
                  <a:latin typeface="SimSong" panose="02020300000000000000" pitchFamily="18" charset="-122"/>
                  <a:ea typeface="SimSong" panose="02020300000000000000" pitchFamily="18" charset="-122"/>
                </a:endParaRPr>
              </a:p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第</a:t>
                </a:r>
                <a:r>
                  <a:rPr lang="en-CN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6</a:t>
                </a:r>
                <a:r>
                  <a:rPr lang="zh-CN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步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 </a:t>
                </a:r>
                <a:r>
                  <a:rPr lang="zh-CN" sz="2400" dirty="0">
                    <a:solidFill>
                      <a:srgbClr val="FF0000"/>
                    </a:solidFill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取主变换。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用进基变量替换离基变量，构造一个新的基，并以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accPr>
                          <m:e>
                            <m: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𝑙𝑘</m:t>
                        </m:r>
                      </m:sub>
                    </m:sSub>
                  </m:oMath>
                </a14:m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为主元进行消元变换，迭代到一个新的对偶可行的基本解。</a:t>
                </a:r>
                <a:endParaRPr lang="en-CN" sz="2400" dirty="0">
                  <a:effectLst/>
                  <a:latin typeface="SimSong" panose="02020300000000000000" pitchFamily="18" charset="-122"/>
                  <a:ea typeface="SimSong" panose="02020300000000000000" pitchFamily="18" charset="-122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6D17D5-9C74-82CC-EA68-68435FECA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75" y="155315"/>
                <a:ext cx="11701849" cy="6547370"/>
              </a:xfrm>
              <a:prstGeom prst="rect">
                <a:avLst/>
              </a:prstGeom>
              <a:blipFill>
                <a:blip r:embed="rId2"/>
                <a:stretch>
                  <a:fillRect l="-781" b="-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42359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701EBA8-AFC3-FAC4-C2E7-C625EA1823F2}"/>
              </a:ext>
            </a:extLst>
          </p:cNvPr>
          <p:cNvSpPr txBox="1"/>
          <p:nvPr/>
        </p:nvSpPr>
        <p:spPr>
          <a:xfrm>
            <a:off x="1245094" y="716737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en-US" sz="2400" kern="100" dirty="0">
                <a:effectLst/>
                <a:latin typeface="SimSong" panose="02020300000000000000" pitchFamily="18" charset="-122"/>
                <a:ea typeface="SimSong" panose="02020300000000000000" pitchFamily="18" charset="-122"/>
                <a:cs typeface="Times New Roman" panose="02020603050405020304" pitchFamily="18" charset="0"/>
              </a:rPr>
              <a:t>假设</a:t>
            </a:r>
            <a:r>
              <a:rPr lang="zh-CN" altLang="zh-CN" sz="2400" kern="100" dirty="0">
                <a:effectLst/>
                <a:latin typeface="SimSong" panose="02020300000000000000" pitchFamily="18" charset="-122"/>
                <a:ea typeface="SimSong" panose="02020300000000000000" pitchFamily="18" charset="-122"/>
                <a:cs typeface="Times New Roman" panose="02020603050405020304" pitchFamily="18" charset="0"/>
              </a:rPr>
              <a:t>已知当前的增广矩阵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61D37B7-A4AE-DB4B-4893-1B66A4728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074" y="1038675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26C055C-B985-2013-53B3-2DF31E604C5C}"/>
                  </a:ext>
                </a:extLst>
              </p:cNvPr>
              <p:cNvSpPr txBox="1"/>
              <p:nvPr/>
            </p:nvSpPr>
            <p:spPr>
              <a:xfrm>
                <a:off x="472735" y="3525500"/>
                <a:ext cx="10795248" cy="22099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400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1≤</m:t>
                            </m:r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lim>
                        </m:limLow>
                      </m:fName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CN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}</m:t>
                        </m:r>
                      </m:e>
                    </m:func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&lt;0</m:t>
                    </m:r>
                  </m:oMath>
                </a14:m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，确定当前的</a:t>
                </a:r>
                <a:r>
                  <a:rPr lang="zh-CN" altLang="en-US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离</a:t>
                </a:r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基变量指标为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400" kern="100" dirty="0">
                  <a:effectLst/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30000"/>
                  </a:lnSpc>
                </a:pP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假设入基变量指标为</a:t>
                </a:r>
                <a14:m>
                  <m:oMath xmlns:m="http://schemas.openxmlformats.org/officeDocument/2006/math">
                    <m:r>
                      <a:rPr lang="en-US" altLang="zh-CN" sz="2400" b="0" i="1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，则需要通过初等行变换将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化为</a:t>
                </a:r>
                <a:r>
                  <a:rPr lang="en-US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，且同时要将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化为非负值，所以希望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&lt;0</m:t>
                    </m:r>
                  </m:oMath>
                </a14:m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。故在第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行中考察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&lt;0</m:t>
                    </m:r>
                  </m:oMath>
                </a14:m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的那些指标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≔{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𝑙𝑖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&lt;0}</m:t>
                    </m:r>
                  </m:oMath>
                </a14:m>
                <a:r>
                  <a:rPr lang="zh-CN" altLang="zh-CN" sz="2400" kern="1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。另外，要保持检验数的非负性。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26C055C-B985-2013-53B3-2DF31E604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35" y="3525500"/>
                <a:ext cx="10795248" cy="2209900"/>
              </a:xfrm>
              <a:prstGeom prst="rect">
                <a:avLst/>
              </a:prstGeom>
              <a:blipFill>
                <a:blip r:embed="rId2"/>
                <a:stretch>
                  <a:fillRect l="-904" r="-904" b="-22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9CB63A41-D2FD-8543-228C-A540F28F8210}"/>
              </a:ext>
            </a:extLst>
          </p:cNvPr>
          <p:cNvSpPr txBox="1"/>
          <p:nvPr/>
        </p:nvSpPr>
        <p:spPr>
          <a:xfrm>
            <a:off x="472735" y="257590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第</a:t>
            </a:r>
            <a:r>
              <a:rPr lang="en-CN" altLang="zh-CN" sz="2400" b="1" dirty="0"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5</a:t>
            </a:r>
            <a:r>
              <a:rPr lang="zh-CN" altLang="zh-CN" sz="2400" b="1" dirty="0"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步</a:t>
            </a:r>
            <a:r>
              <a:rPr lang="zh-CN" altLang="en-US" sz="2400" b="1" dirty="0"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分析：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1">
                <a:extLst>
                  <a:ext uri="{FF2B5EF4-FFF2-40B4-BE49-F238E27FC236}">
                    <a16:creationId xmlns:a16="http://schemas.microsoft.com/office/drawing/2014/main" id="{69E70322-B5B7-84C1-E4CD-4C91D001EA31}"/>
                  </a:ext>
                </a:extLst>
              </p:cNvPr>
              <p:cNvSpPr txBox="1"/>
              <p:nvPr/>
            </p:nvSpPr>
            <p:spPr>
              <a:xfrm>
                <a:off x="2519798" y="1343703"/>
                <a:ext cx="6096000" cy="2032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zh-CN" altLang="zh-CN" sz="24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4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    </m:t>
                      </m:r>
                      <m:acc>
                        <m:accPr>
                          <m:chr m:val="̅"/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N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CN" sz="24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CN" sz="240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CN" sz="2400" i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CN" sz="2400" i="0">
                                        <a:latin typeface="Cambria Math" panose="02040503050406030204" pitchFamily="18" charset="0"/>
                                      </a:rPr>
                                      <m:t>     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CN" sz="2400" i="0">
                                        <a:latin typeface="Cambria Math" panose="02040503050406030204" pitchFamily="18" charset="0"/>
                                      </a:rPr>
                                      <m:t>     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CN" sz="2400" i="0">
                                        <a:latin typeface="Cambria Math" panose="02040503050406030204" pitchFamily="18" charset="0"/>
                                      </a:rPr>
                                      <m:t>     ⋮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     0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CN" sz="2400" i="0">
                                        <a:latin typeface="Cambria Math" panose="02040503050406030204" pitchFamily="18" charset="0"/>
                                      </a:rPr>
                                      <m:t>   ⋯   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CN" sz="2400" i="0">
                                        <a:latin typeface="Cambria Math" panose="02040503050406030204" pitchFamily="18" charset="0"/>
                                      </a:rPr>
                                      <m:t>   ⋯   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CN" sz="2400" i="0">
                                        <a:latin typeface="Cambria Math" panose="02040503050406030204" pitchFamily="18" charset="0"/>
                                      </a:rPr>
                                      <m:t>          </m:t>
                                    </m:r>
                                    <m:r>
                                      <a:rPr lang="zh-CN" altLang="en-US" sz="24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CN" sz="2400" i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  <m:r>
                                <a:rPr lang="zh-CN" altLang="en-US" sz="2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⋯   1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  </m:t>
                                    </m:r>
                                    <m:sSub>
                                      <m:sSub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zh-CN" altLang="zh-CN" sz="2400" i="1" kern="1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2400" i="1" kern="100"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     </m:t>
                                    </m:r>
                                    <m:sSub>
                                      <m:sSub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zh-CN" altLang="zh-CN" sz="2400" i="1" kern="1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2400" i="1" kern="100"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CN" sz="2400" i="0">
                                        <a:latin typeface="Cambria Math" panose="02040503050406030204" pitchFamily="18" charset="0"/>
                                      </a:rPr>
                                      <m:t>        ⋮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kern="10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   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zh-CN" altLang="zh-CN" sz="24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eqArr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CN" sz="2400" i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  <m:sSub>
                                      <m:sSub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zh-CN" altLang="zh-CN" sz="2400" i="1" kern="1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2400" i="1" kern="100"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CN" sz="2400" i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  <m:sSub>
                                      <m:sSub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zh-CN" altLang="zh-CN" sz="2400" i="1" kern="1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2400" i="1" kern="100"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CN" sz="2400" i="0">
                                        <a:latin typeface="Cambria Math" panose="02040503050406030204" pitchFamily="18" charset="0"/>
                                      </a:rPr>
                                      <m:t>     ⋮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&amp;⋯</m:t>
                              </m:r>
                              <m:sSub>
                                <m:sSubPr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zh-CN" altLang="zh-CN" sz="24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𝑚𝑘</m:t>
                                  </m:r>
                                </m:sub>
                              </m:sSub>
                            </m:e>
                          </m:eqArr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CN" sz="2400" i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  <m:sSub>
                                      <m:sSub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zh-CN" altLang="zh-CN" sz="2400" i="1" kern="1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2400" i="1" kern="100"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CN" sz="2400" i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  <m:sSub>
                                      <m:sSub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zh-CN" altLang="zh-CN" sz="2400" i="1" kern="1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2400" i="1" kern="100"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CN" sz="2400" i="0">
                                        <a:latin typeface="Cambria Math" panose="02040503050406030204" pitchFamily="18" charset="0"/>
                                      </a:rPr>
                                      <m:t>    ⋮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&amp;⋯</m:t>
                              </m:r>
                              <m:sSub>
                                <m:sSubPr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zh-CN" altLang="zh-CN" sz="24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CN" sz="2400" i="0">
                                        <a:latin typeface="Cambria Math" panose="02040503050406030204" pitchFamily="18" charset="0"/>
                                      </a:rPr>
                                      <m:t>    </m:t>
                                    </m:r>
                                    <m:sSub>
                                      <m:sSubPr>
                                        <m:ctrlPr>
                                          <a:rPr lang="en-CN" altLang="zh-CN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zh-CN" altLang="zh-CN" sz="2400" i="1" kern="1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2400" i="1" kern="100"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CN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</a:rPr>
                                          <m:t>    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zh-CN" altLang="zh-CN" sz="2400" i="1" kern="1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2400" i="1" kern="100"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CN" sz="2400" i="0">
                                        <a:latin typeface="Cambria Math" panose="02040503050406030204" pitchFamily="18" charset="0"/>
                                      </a:rPr>
                                      <m:t>    ⋮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   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zh-CN" altLang="zh-CN" sz="24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7" name="TextBox 1">
                <a:extLst>
                  <a:ext uri="{FF2B5EF4-FFF2-40B4-BE49-F238E27FC236}">
                    <a16:creationId xmlns:a16="http://schemas.microsoft.com/office/drawing/2014/main" id="{69E70322-B5B7-84C1-E4CD-4C91D001E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798" y="1343703"/>
                <a:ext cx="6096000" cy="20323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13637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42A6B9F-0319-E9B9-C965-F493E83D22EB}"/>
                  </a:ext>
                </a:extLst>
              </p:cNvPr>
              <p:cNvSpPr txBox="1"/>
              <p:nvPr/>
            </p:nvSpPr>
            <p:spPr>
              <a:xfrm>
                <a:off x="303440" y="185676"/>
                <a:ext cx="11318789" cy="6486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kern="100" dirty="0">
                    <a:latin typeface="+mn-ea"/>
                    <a:cs typeface="Times New Roman" panose="02020603050405020304" pitchFamily="18" charset="0"/>
                  </a:rPr>
                  <a:t>       </a:t>
                </a:r>
                <a:r>
                  <a:rPr lang="zh-CN" altLang="zh-CN" sz="2400" kern="100" dirty="0">
                    <a:latin typeface="+mn-ea"/>
                    <a:cs typeface="Times New Roman" panose="02020603050405020304" pitchFamily="18" charset="0"/>
                  </a:rPr>
                  <a:t>对当前的检验数行做初等行变换</a:t>
                </a:r>
                <a:r>
                  <a:rPr lang="zh-CN" altLang="en-US" sz="2400" b="1" kern="100" dirty="0">
                    <a:latin typeface="+mn-ea"/>
                    <a:cs typeface="Times New Roman" panose="02020603050405020304" pitchFamily="18" charset="0"/>
                  </a:rPr>
                  <a:t>使得</a:t>
                </a:r>
                <a:endParaRPr lang="en-US" altLang="zh-CN" sz="2400" b="1" i="1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(0,⋯,</m:t>
                          </m:r>
                          <m:limLow>
                            <m:limLow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zh-CN" altLang="zh-CN" sz="2400" i="1" kern="1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 kern="1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kern="100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altLang="zh-CN" sz="2400" i="1" kern="100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zh-CN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CN" sz="2400" i="1" kern="100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2400" b="0" i="1" kern="100" smtClean="0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groupChr>
                            </m:e>
                            <m:lim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lim>
                          </m:limLow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,⋯,0,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f>
                            <m:f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CN" sz="2400" b="0" i="1" kern="100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f>
                            <m:f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𝑙𝑛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CN" sz="2400" b="0" i="1" kern="100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sz="24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algn="just"/>
                <a:r>
                  <a:rPr lang="zh-CN" altLang="en-US" sz="2400" b="1" kern="100" dirty="0">
                    <a:latin typeface="+mn-ea"/>
                    <a:cs typeface="Times New Roman" panose="02020603050405020304" pitchFamily="18" charset="0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en-US" sz="2400" b="1" kern="100" dirty="0">
                    <a:effectLst/>
                    <a:latin typeface="+mn-ea"/>
                    <a:cs typeface="Times New Roman" panose="02020603050405020304" pitchFamily="18" charset="0"/>
                  </a:rPr>
                  <a:t>个分量为零</a:t>
                </a:r>
                <a:r>
                  <a:rPr lang="zh-CN" altLang="en-US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，同时希望所有的检验数非负。</a:t>
                </a:r>
                <a:endParaRPr lang="zh-CN" altLang="zh-CN" sz="24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       </a:t>
                </a:r>
                <a:r>
                  <a:rPr lang="zh-CN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&lt;0</m:t>
                    </m:r>
                  </m:oMath>
                </a14:m>
                <a:r>
                  <a:rPr lang="zh-CN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，所以</a:t>
                </a:r>
                <a:r>
                  <a:rPr lang="zh-CN" altLang="en-US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有</a:t>
                </a:r>
                <a:endParaRPr lang="en-US" altLang="zh-CN" sz="24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24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≥0</m:t>
                      </m:r>
                    </m:oMath>
                  </m:oMathPara>
                </a14:m>
                <a:endParaRPr lang="en-US" altLang="zh-CN" sz="24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algn="just"/>
                <a:r>
                  <a:rPr lang="zh-CN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对于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zh-CN" sz="2400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+1,…,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，有</a:t>
                </a:r>
                <a:endParaRPr lang="en-US" altLang="zh-CN" sz="24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lvl="8" algn="just"/>
                <a:r>
                  <a:rPr lang="en-US" altLang="zh-CN" sz="2400" kern="100" dirty="0">
                    <a:effectLst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f>
                      <m:f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CN" altLang="zh-CN" sz="24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  <m:r>
                              <a:rPr lang="en-US" altLang="zh-CN" sz="24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CN" altLang="zh-CN" sz="24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  <m:r>
                              <a:rPr lang="en-US" altLang="zh-CN" sz="24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endParaRPr lang="en-US" altLang="zh-CN" sz="24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algn="just"/>
                <a:r>
                  <a:rPr lang="zh-CN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对于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&lt;0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+1,…,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，注意到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4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4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24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24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24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24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24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4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algn="just"/>
                <a:r>
                  <a:rPr lang="zh-CN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所以</a:t>
                </a:r>
                <a:r>
                  <a:rPr lang="zh-CN" altLang="en-US" sz="2400" kern="100" dirty="0">
                    <a:latin typeface="+mn-ea"/>
                    <a:cs typeface="Times New Roman" panose="02020603050405020304" pitchFamily="18" charset="0"/>
                  </a:rPr>
                  <a:t>只要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CN" altLang="zh-CN" sz="24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𝑙𝑗</m:t>
                            </m:r>
                          </m:sub>
                        </m:sSub>
                      </m:den>
                    </m:f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f>
                      <m:f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40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CN" altLang="zh-CN" sz="24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  <m:r>
                              <a:rPr lang="en-US" altLang="zh-CN" sz="24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400" kern="100" dirty="0">
                    <a:latin typeface="+mn-ea"/>
                    <a:cs typeface="Times New Roman" panose="02020603050405020304" pitchFamily="18" charset="0"/>
                  </a:rPr>
                  <a:t>则有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f>
                      <m:f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CN" altLang="zh-CN" sz="24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CN" altLang="zh-CN" sz="24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𝑙𝑘</m:t>
                            </m:r>
                          </m:sub>
                        </m:sSub>
                      </m:den>
                    </m:f>
                    <m:r>
                      <a:rPr lang="en-US" altLang="zh-CN" sz="24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zh-CN" altLang="en-US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从而取</a:t>
                </a:r>
                <a:r>
                  <a:rPr lang="zh-CN" altLang="en-US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进</a:t>
                </a:r>
                <a:r>
                  <a:rPr lang="zh-CN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基变量指标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en-US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为</a:t>
                </a:r>
                <a:r>
                  <a:rPr lang="zh-CN" altLang="zh-CN" sz="2400" kern="100" dirty="0">
                    <a:effectLst/>
                    <a:latin typeface="+mn-ea"/>
                    <a:cs typeface="Times New Roman" panose="02020603050405020304" pitchFamily="18" charset="0"/>
                  </a:rPr>
                  <a:t>满足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𝑙𝑘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𝑚𝑎𝑥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{</m:t>
                      </m:r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𝑙𝑗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&lt;0,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zh-CN" altLang="zh-CN" sz="24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42A6B9F-0319-E9B9-C965-F493E83D2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440" y="185676"/>
                <a:ext cx="11318789" cy="6486648"/>
              </a:xfrm>
              <a:prstGeom prst="rect">
                <a:avLst/>
              </a:prstGeom>
              <a:blipFill>
                <a:blip r:embed="rId2"/>
                <a:stretch>
                  <a:fillRect l="-862" t="-6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64620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B67CDB-9DC8-7A53-A08D-8DC9F1E34C0D}"/>
                  </a:ext>
                </a:extLst>
              </p:cNvPr>
              <p:cNvSpPr txBox="1"/>
              <p:nvPr/>
            </p:nvSpPr>
            <p:spPr>
              <a:xfrm>
                <a:off x="665205" y="731609"/>
                <a:ext cx="10861589" cy="46819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例</a:t>
                </a:r>
                <a:r>
                  <a:rPr lang="en-US" sz="2400" dirty="0">
                    <a:effectLst/>
                    <a:latin typeface="SimSun" panose="02010600030101010101" pitchFamily="2" charset="-122"/>
                    <a:ea typeface="Times New Roman" panose="02020603050405020304" pitchFamily="18" charset="0"/>
                  </a:rPr>
                  <a:t> 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试求解下列线性规划问题：</a:t>
                </a:r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𝑧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=5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+2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+4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</m:oMath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𝑡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≥4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6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+5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≥10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解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将两个不等式约束分别引进剩余变量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5</m:t>
                        </m:r>
                      </m:sub>
                    </m:sSub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，原问题化为标准形式：</a:t>
                </a:r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𝑧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=5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+2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+4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+0∙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+0∙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5</m:t>
                              </m:r>
                            </m:sub>
                          </m:sSub>
                        </m:e>
                      </m:func>
                    </m:oMath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𝑡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=4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6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+5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=10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≥0(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𝑖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=1,2,3,4,5)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B67CDB-9DC8-7A53-A08D-8DC9F1E34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05" y="731609"/>
                <a:ext cx="10861589" cy="4681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90723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4BD190E-6198-4887-97F3-CB66FCB015A1}"/>
              </a:ext>
            </a:extLst>
          </p:cNvPr>
          <p:cNvSpPr txBox="1"/>
          <p:nvPr/>
        </p:nvSpPr>
        <p:spPr>
          <a:xfrm>
            <a:off x="927318" y="304701"/>
            <a:ext cx="1195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latin typeface="+mn-ea"/>
              </a:defRPr>
            </a:lvl1pPr>
          </a:lstStyle>
          <a:p>
            <a:r>
              <a:rPr lang="zh-CN" altLang="en-US" dirty="0"/>
              <a:t>即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FB4009-56C4-489C-9371-1B0A7BF43E46}"/>
              </a:ext>
            </a:extLst>
          </p:cNvPr>
          <p:cNvSpPr txBox="1"/>
          <p:nvPr/>
        </p:nvSpPr>
        <p:spPr>
          <a:xfrm>
            <a:off x="927318" y="2820968"/>
            <a:ext cx="3086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n-ea"/>
              </a:rPr>
              <a:t>列出初始单纯形表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0DBF88-2897-E367-CC26-3F8A1B458413}"/>
                  </a:ext>
                </a:extLst>
              </p:cNvPr>
              <p:cNvSpPr txBox="1"/>
              <p:nvPr/>
            </p:nvSpPr>
            <p:spPr>
              <a:xfrm>
                <a:off x="1084156" y="244944"/>
                <a:ext cx="8600302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=5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+4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+0∙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+0∙</m:t>
                          </m:r>
                          <m:sSub>
                            <m:sSub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N" altLang="zh-CN" sz="240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&amp;−3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=−4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&amp;−6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=−10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=1,2,3,4,5)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0DBF88-2897-E367-CC26-3F8A1B458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156" y="244944"/>
                <a:ext cx="8600302" cy="16407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177B4B04-0CAF-BD6B-8364-32F03FFD6CE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241215" y="2367032"/>
              <a:ext cx="6287464" cy="322472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85933">
                      <a:extLst>
                        <a:ext uri="{9D8B030D-6E8A-4147-A177-3AD203B41FA5}">
                          <a16:colId xmlns:a16="http://schemas.microsoft.com/office/drawing/2014/main" val="313570750"/>
                        </a:ext>
                      </a:extLst>
                    </a:gridCol>
                    <a:gridCol w="785933">
                      <a:extLst>
                        <a:ext uri="{9D8B030D-6E8A-4147-A177-3AD203B41FA5}">
                          <a16:colId xmlns:a16="http://schemas.microsoft.com/office/drawing/2014/main" val="201441320"/>
                        </a:ext>
                      </a:extLst>
                    </a:gridCol>
                    <a:gridCol w="785933">
                      <a:extLst>
                        <a:ext uri="{9D8B030D-6E8A-4147-A177-3AD203B41FA5}">
                          <a16:colId xmlns:a16="http://schemas.microsoft.com/office/drawing/2014/main" val="3743207369"/>
                        </a:ext>
                      </a:extLst>
                    </a:gridCol>
                    <a:gridCol w="785933">
                      <a:extLst>
                        <a:ext uri="{9D8B030D-6E8A-4147-A177-3AD203B41FA5}">
                          <a16:colId xmlns:a16="http://schemas.microsoft.com/office/drawing/2014/main" val="3595358592"/>
                        </a:ext>
                      </a:extLst>
                    </a:gridCol>
                    <a:gridCol w="785933">
                      <a:extLst>
                        <a:ext uri="{9D8B030D-6E8A-4147-A177-3AD203B41FA5}">
                          <a16:colId xmlns:a16="http://schemas.microsoft.com/office/drawing/2014/main" val="3236295842"/>
                        </a:ext>
                      </a:extLst>
                    </a:gridCol>
                    <a:gridCol w="785933">
                      <a:extLst>
                        <a:ext uri="{9D8B030D-6E8A-4147-A177-3AD203B41FA5}">
                          <a16:colId xmlns:a16="http://schemas.microsoft.com/office/drawing/2014/main" val="2730571272"/>
                        </a:ext>
                      </a:extLst>
                    </a:gridCol>
                    <a:gridCol w="785933">
                      <a:extLst>
                        <a:ext uri="{9D8B030D-6E8A-4147-A177-3AD203B41FA5}">
                          <a16:colId xmlns:a16="http://schemas.microsoft.com/office/drawing/2014/main" val="857891057"/>
                        </a:ext>
                      </a:extLst>
                    </a:gridCol>
                    <a:gridCol w="785933">
                      <a:extLst>
                        <a:ext uri="{9D8B030D-6E8A-4147-A177-3AD203B41FA5}">
                          <a16:colId xmlns:a16="http://schemas.microsoft.com/office/drawing/2014/main" val="3513984052"/>
                        </a:ext>
                      </a:extLst>
                    </a:gridCol>
                  </a:tblGrid>
                  <a:tr h="600782"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5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 dirty="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4</a:t>
                          </a:r>
                          <a:endParaRPr lang="en-CN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13315060"/>
                      </a:ext>
                    </a:extLst>
                  </a:tr>
                  <a:tr h="57287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sz="2400" dirty="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</a:rPr>
                            <a:t>基</a:t>
                          </a:r>
                          <a:endParaRPr lang="en-CN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4553363"/>
                      </a:ext>
                    </a:extLst>
                  </a:tr>
                  <a:tr h="56210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-4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-3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 dirty="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-1</a:t>
                          </a:r>
                          <a:endParaRPr lang="en-CN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-2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87820989"/>
                      </a:ext>
                    </a:extLst>
                  </a:tr>
                  <a:tr h="56210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-10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-6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 dirty="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[-3]</a:t>
                          </a:r>
                          <a:endParaRPr lang="en-CN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-5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2014405"/>
                      </a:ext>
                    </a:extLst>
                  </a:tr>
                  <a:tr h="600782"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5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4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 dirty="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91034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177B4B04-0CAF-BD6B-8364-32F03FFD6C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5725358"/>
                  </p:ext>
                </p:extLst>
              </p:nvPr>
            </p:nvGraphicFramePr>
            <p:xfrm>
              <a:off x="4241215" y="2367032"/>
              <a:ext cx="6287464" cy="322472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85933">
                      <a:extLst>
                        <a:ext uri="{9D8B030D-6E8A-4147-A177-3AD203B41FA5}">
                          <a16:colId xmlns:a16="http://schemas.microsoft.com/office/drawing/2014/main" val="313570750"/>
                        </a:ext>
                      </a:extLst>
                    </a:gridCol>
                    <a:gridCol w="785933">
                      <a:extLst>
                        <a:ext uri="{9D8B030D-6E8A-4147-A177-3AD203B41FA5}">
                          <a16:colId xmlns:a16="http://schemas.microsoft.com/office/drawing/2014/main" val="201441320"/>
                        </a:ext>
                      </a:extLst>
                    </a:gridCol>
                    <a:gridCol w="785933">
                      <a:extLst>
                        <a:ext uri="{9D8B030D-6E8A-4147-A177-3AD203B41FA5}">
                          <a16:colId xmlns:a16="http://schemas.microsoft.com/office/drawing/2014/main" val="3743207369"/>
                        </a:ext>
                      </a:extLst>
                    </a:gridCol>
                    <a:gridCol w="785933">
                      <a:extLst>
                        <a:ext uri="{9D8B030D-6E8A-4147-A177-3AD203B41FA5}">
                          <a16:colId xmlns:a16="http://schemas.microsoft.com/office/drawing/2014/main" val="3595358592"/>
                        </a:ext>
                      </a:extLst>
                    </a:gridCol>
                    <a:gridCol w="785933">
                      <a:extLst>
                        <a:ext uri="{9D8B030D-6E8A-4147-A177-3AD203B41FA5}">
                          <a16:colId xmlns:a16="http://schemas.microsoft.com/office/drawing/2014/main" val="3236295842"/>
                        </a:ext>
                      </a:extLst>
                    </a:gridCol>
                    <a:gridCol w="785933">
                      <a:extLst>
                        <a:ext uri="{9D8B030D-6E8A-4147-A177-3AD203B41FA5}">
                          <a16:colId xmlns:a16="http://schemas.microsoft.com/office/drawing/2014/main" val="2730571272"/>
                        </a:ext>
                      </a:extLst>
                    </a:gridCol>
                    <a:gridCol w="785933">
                      <a:extLst>
                        <a:ext uri="{9D8B030D-6E8A-4147-A177-3AD203B41FA5}">
                          <a16:colId xmlns:a16="http://schemas.microsoft.com/office/drawing/2014/main" val="857891057"/>
                        </a:ext>
                      </a:extLst>
                    </a:gridCol>
                    <a:gridCol w="785933">
                      <a:extLst>
                        <a:ext uri="{9D8B030D-6E8A-4147-A177-3AD203B41FA5}">
                          <a16:colId xmlns:a16="http://schemas.microsoft.com/office/drawing/2014/main" val="3513984052"/>
                        </a:ext>
                      </a:extLst>
                    </a:gridCol>
                  </a:tblGrid>
                  <a:tr h="669036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8" t="-909" r="-167442" b="-39272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5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 dirty="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4</a:t>
                          </a:r>
                          <a:endParaRPr lang="en-CN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13315060"/>
                      </a:ext>
                    </a:extLst>
                  </a:tr>
                  <a:tr h="63696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5" t="-105714" r="-702326" b="-31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sz="2400" dirty="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</a:rPr>
                            <a:t>基</a:t>
                          </a:r>
                          <a:endParaRPr lang="en-CN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75" t="-105714" r="-502326" b="-31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8462" t="-105714" r="-398462" b="-31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550" t="-105714" r="-301550" b="-31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1550" t="-105714" r="-201550" b="-31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1550" t="-105714" r="-101550" b="-31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1550" t="-105714" r="-1550" b="-3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553363"/>
                      </a:ext>
                    </a:extLst>
                  </a:tr>
                  <a:tr h="624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75" t="-211765" r="-602326" b="-22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-4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-3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 dirty="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-1</a:t>
                          </a:r>
                          <a:endParaRPr lang="en-CN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-2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87820989"/>
                      </a:ext>
                    </a:extLst>
                  </a:tr>
                  <a:tr h="624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75" t="-308738" r="-602326" b="-1184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-10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-6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 dirty="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[-3]</a:t>
                          </a:r>
                          <a:endParaRPr lang="en-CN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-5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2014405"/>
                      </a:ext>
                    </a:extLst>
                  </a:tr>
                  <a:tr h="669036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8" t="-382727" r="-167442" b="-1090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5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4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 dirty="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91034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658391C-F101-D34B-D56F-DDD40D50349C}"/>
                  </a:ext>
                </a:extLst>
              </p:cNvPr>
              <p:cNvSpPr txBox="1"/>
              <p:nvPr/>
            </p:nvSpPr>
            <p:spPr>
              <a:xfrm>
                <a:off x="1024034" y="5821492"/>
                <a:ext cx="6098058" cy="8042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N" sz="2400" i="1"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begChr m:val="{"/>
                          <m:endChr m:val="}"/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den>
                          </m:f>
                          <m:r>
                            <a:rPr lang="en-CN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den>
                          </m:f>
                          <m:r>
                            <a:rPr lang="en-CN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den>
                          </m:f>
                        </m:e>
                      </m:d>
                      <m:r>
                        <a:rPr lang="en-CN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N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CN" sz="2400" i="0">
                              <a:latin typeface="Cambria Math" panose="02040503050406030204" pitchFamily="18" charset="0"/>
                            </a:rPr>
                            <m:t>−3</m:t>
                          </m:r>
                        </m:den>
                      </m:f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658391C-F101-D34B-D56F-DDD40D503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034" y="5821492"/>
                <a:ext cx="6098058" cy="804259"/>
              </a:xfrm>
              <a:prstGeom prst="rect">
                <a:avLst/>
              </a:prstGeom>
              <a:blipFill>
                <a:blip r:embed="rId4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57168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1E2322F-5DA9-5169-2DC6-A3712C16141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9344" y="347833"/>
              <a:ext cx="10713312" cy="463791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39164">
                      <a:extLst>
                        <a:ext uri="{9D8B030D-6E8A-4147-A177-3AD203B41FA5}">
                          <a16:colId xmlns:a16="http://schemas.microsoft.com/office/drawing/2014/main" val="2550035676"/>
                        </a:ext>
                      </a:extLst>
                    </a:gridCol>
                    <a:gridCol w="1339164">
                      <a:extLst>
                        <a:ext uri="{9D8B030D-6E8A-4147-A177-3AD203B41FA5}">
                          <a16:colId xmlns:a16="http://schemas.microsoft.com/office/drawing/2014/main" val="1493445068"/>
                        </a:ext>
                      </a:extLst>
                    </a:gridCol>
                    <a:gridCol w="1339164">
                      <a:extLst>
                        <a:ext uri="{9D8B030D-6E8A-4147-A177-3AD203B41FA5}">
                          <a16:colId xmlns:a16="http://schemas.microsoft.com/office/drawing/2014/main" val="4017880862"/>
                        </a:ext>
                      </a:extLst>
                    </a:gridCol>
                    <a:gridCol w="1339164">
                      <a:extLst>
                        <a:ext uri="{9D8B030D-6E8A-4147-A177-3AD203B41FA5}">
                          <a16:colId xmlns:a16="http://schemas.microsoft.com/office/drawing/2014/main" val="2887321742"/>
                        </a:ext>
                      </a:extLst>
                    </a:gridCol>
                    <a:gridCol w="1339164">
                      <a:extLst>
                        <a:ext uri="{9D8B030D-6E8A-4147-A177-3AD203B41FA5}">
                          <a16:colId xmlns:a16="http://schemas.microsoft.com/office/drawing/2014/main" val="2430556914"/>
                        </a:ext>
                      </a:extLst>
                    </a:gridCol>
                    <a:gridCol w="1339164">
                      <a:extLst>
                        <a:ext uri="{9D8B030D-6E8A-4147-A177-3AD203B41FA5}">
                          <a16:colId xmlns:a16="http://schemas.microsoft.com/office/drawing/2014/main" val="1390857477"/>
                        </a:ext>
                      </a:extLst>
                    </a:gridCol>
                    <a:gridCol w="1339164">
                      <a:extLst>
                        <a:ext uri="{9D8B030D-6E8A-4147-A177-3AD203B41FA5}">
                          <a16:colId xmlns:a16="http://schemas.microsoft.com/office/drawing/2014/main" val="2974895420"/>
                        </a:ext>
                      </a:extLst>
                    </a:gridCol>
                    <a:gridCol w="1339164">
                      <a:extLst>
                        <a:ext uri="{9D8B030D-6E8A-4147-A177-3AD203B41FA5}">
                          <a16:colId xmlns:a16="http://schemas.microsoft.com/office/drawing/2014/main" val="1787579172"/>
                        </a:ext>
                      </a:extLst>
                    </a:gridCol>
                  </a:tblGrid>
                  <a:tr h="323327"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5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4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8554143"/>
                      </a:ext>
                    </a:extLst>
                  </a:tr>
                  <a:tr h="42561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sz="240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</a:rPr>
                            <a:t>基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06996997"/>
                      </a:ext>
                    </a:extLst>
                  </a:tr>
                  <a:tr h="7276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[-1]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0773765"/>
                      </a:ext>
                    </a:extLst>
                  </a:tr>
                  <a:tr h="73475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10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30881510"/>
                      </a:ext>
                    </a:extLst>
                  </a:tr>
                  <a:tr h="727627"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N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 dirty="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N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206197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1E2322F-5DA9-5169-2DC6-A3712C1614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3364020"/>
                  </p:ext>
                </p:extLst>
              </p:nvPr>
            </p:nvGraphicFramePr>
            <p:xfrm>
              <a:off x="739344" y="347833"/>
              <a:ext cx="10713312" cy="463791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39164">
                      <a:extLst>
                        <a:ext uri="{9D8B030D-6E8A-4147-A177-3AD203B41FA5}">
                          <a16:colId xmlns:a16="http://schemas.microsoft.com/office/drawing/2014/main" val="2550035676"/>
                        </a:ext>
                      </a:extLst>
                    </a:gridCol>
                    <a:gridCol w="1339164">
                      <a:extLst>
                        <a:ext uri="{9D8B030D-6E8A-4147-A177-3AD203B41FA5}">
                          <a16:colId xmlns:a16="http://schemas.microsoft.com/office/drawing/2014/main" val="1493445068"/>
                        </a:ext>
                      </a:extLst>
                    </a:gridCol>
                    <a:gridCol w="1339164">
                      <a:extLst>
                        <a:ext uri="{9D8B030D-6E8A-4147-A177-3AD203B41FA5}">
                          <a16:colId xmlns:a16="http://schemas.microsoft.com/office/drawing/2014/main" val="4017880862"/>
                        </a:ext>
                      </a:extLst>
                    </a:gridCol>
                    <a:gridCol w="1339164">
                      <a:extLst>
                        <a:ext uri="{9D8B030D-6E8A-4147-A177-3AD203B41FA5}">
                          <a16:colId xmlns:a16="http://schemas.microsoft.com/office/drawing/2014/main" val="2887321742"/>
                        </a:ext>
                      </a:extLst>
                    </a:gridCol>
                    <a:gridCol w="1339164">
                      <a:extLst>
                        <a:ext uri="{9D8B030D-6E8A-4147-A177-3AD203B41FA5}">
                          <a16:colId xmlns:a16="http://schemas.microsoft.com/office/drawing/2014/main" val="2430556914"/>
                        </a:ext>
                      </a:extLst>
                    </a:gridCol>
                    <a:gridCol w="1339164">
                      <a:extLst>
                        <a:ext uri="{9D8B030D-6E8A-4147-A177-3AD203B41FA5}">
                          <a16:colId xmlns:a16="http://schemas.microsoft.com/office/drawing/2014/main" val="1390857477"/>
                        </a:ext>
                      </a:extLst>
                    </a:gridCol>
                    <a:gridCol w="1339164">
                      <a:extLst>
                        <a:ext uri="{9D8B030D-6E8A-4147-A177-3AD203B41FA5}">
                          <a16:colId xmlns:a16="http://schemas.microsoft.com/office/drawing/2014/main" val="2974895420"/>
                        </a:ext>
                      </a:extLst>
                    </a:gridCol>
                    <a:gridCol w="1339164">
                      <a:extLst>
                        <a:ext uri="{9D8B030D-6E8A-4147-A177-3AD203B41FA5}">
                          <a16:colId xmlns:a16="http://schemas.microsoft.com/office/drawing/2014/main" val="1787579172"/>
                        </a:ext>
                      </a:extLst>
                    </a:gridCol>
                  </a:tblGrid>
                  <a:tr h="669036">
                    <a:tc gridSpan="3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15" t="-1887" r="-166562" b="-59245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5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4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8554143"/>
                      </a:ext>
                    </a:extLst>
                  </a:tr>
                  <a:tr h="636969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3" t="-108000" r="-697170" b="-5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sz="240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</a:rPr>
                            <a:t>基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8000" r="-498113" b="-5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857" t="-108000" r="-402857" b="-5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057" t="-108000" r="-299057" b="-5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810" t="-108000" r="-201905" b="-5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113" t="-108000" r="-100000" b="-5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4762" t="-108000" r="-952" b="-52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996997"/>
                      </a:ext>
                    </a:extLst>
                  </a:tr>
                  <a:tr h="110693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905" t="-119540" r="-603810" b="-2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19540" r="-498113" b="-2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[-1]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810" t="-119540" r="-201905" b="-2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4762" t="-119540" r="-952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0773765"/>
                      </a:ext>
                    </a:extLst>
                  </a:tr>
                  <a:tr h="11180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905" t="-214607" r="-603810" b="-988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214607" r="-498113" b="-988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810" t="-214607" r="-201905" b="-988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4762" t="-214607" r="-952" b="-988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0881510"/>
                      </a:ext>
                    </a:extLst>
                  </a:tr>
                  <a:tr h="1106932">
                    <a:tc gridSpan="3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15" t="-321839" r="-166562" b="-114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810" t="-321839" r="-201905" b="-1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 dirty="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4762" t="-321839" r="-952" b="-11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061973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B87EA8-F04F-8D57-0C45-3DA5CC88CC4E}"/>
                  </a:ext>
                </a:extLst>
              </p:cNvPr>
              <p:cNvSpPr txBox="1"/>
              <p:nvPr/>
            </p:nvSpPr>
            <p:spPr>
              <a:xfrm>
                <a:off x="3046971" y="5354583"/>
                <a:ext cx="6098058" cy="13256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N" sz="2400" i="1"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begChr m:val="{"/>
                          <m:endChr m:val="}"/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en-CN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num>
                            <m:den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den>
                          </m:f>
                          <m:r>
                            <a:rPr lang="en-CN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num>
                            <m:den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CN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den>
                          </m:f>
                        </m:e>
                      </m:d>
                      <m:r>
                        <a:rPr lang="en-CN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N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N" sz="2400" i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CN" sz="2400" i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B87EA8-F04F-8D57-0C45-3DA5CC88C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971" y="5354583"/>
                <a:ext cx="6098058" cy="1325684"/>
              </a:xfrm>
              <a:prstGeom prst="rect">
                <a:avLst/>
              </a:prstGeom>
              <a:blipFill>
                <a:blip r:embed="rId3"/>
                <a:stretch>
                  <a:fillRect b="-283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48851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321B4CD-925D-AAC7-A4A3-3AAA02852B3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01576" y="935415"/>
              <a:ext cx="9588848" cy="498716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198606">
                      <a:extLst>
                        <a:ext uri="{9D8B030D-6E8A-4147-A177-3AD203B41FA5}">
                          <a16:colId xmlns:a16="http://schemas.microsoft.com/office/drawing/2014/main" val="3108103965"/>
                        </a:ext>
                      </a:extLst>
                    </a:gridCol>
                    <a:gridCol w="1198606">
                      <a:extLst>
                        <a:ext uri="{9D8B030D-6E8A-4147-A177-3AD203B41FA5}">
                          <a16:colId xmlns:a16="http://schemas.microsoft.com/office/drawing/2014/main" val="2233348874"/>
                        </a:ext>
                      </a:extLst>
                    </a:gridCol>
                    <a:gridCol w="1198606">
                      <a:extLst>
                        <a:ext uri="{9D8B030D-6E8A-4147-A177-3AD203B41FA5}">
                          <a16:colId xmlns:a16="http://schemas.microsoft.com/office/drawing/2014/main" val="1734540095"/>
                        </a:ext>
                      </a:extLst>
                    </a:gridCol>
                    <a:gridCol w="1198606">
                      <a:extLst>
                        <a:ext uri="{9D8B030D-6E8A-4147-A177-3AD203B41FA5}">
                          <a16:colId xmlns:a16="http://schemas.microsoft.com/office/drawing/2014/main" val="307828392"/>
                        </a:ext>
                      </a:extLst>
                    </a:gridCol>
                    <a:gridCol w="1198606">
                      <a:extLst>
                        <a:ext uri="{9D8B030D-6E8A-4147-A177-3AD203B41FA5}">
                          <a16:colId xmlns:a16="http://schemas.microsoft.com/office/drawing/2014/main" val="2506054662"/>
                        </a:ext>
                      </a:extLst>
                    </a:gridCol>
                    <a:gridCol w="1198606">
                      <a:extLst>
                        <a:ext uri="{9D8B030D-6E8A-4147-A177-3AD203B41FA5}">
                          <a16:colId xmlns:a16="http://schemas.microsoft.com/office/drawing/2014/main" val="2605173381"/>
                        </a:ext>
                      </a:extLst>
                    </a:gridCol>
                    <a:gridCol w="1198606">
                      <a:extLst>
                        <a:ext uri="{9D8B030D-6E8A-4147-A177-3AD203B41FA5}">
                          <a16:colId xmlns:a16="http://schemas.microsoft.com/office/drawing/2014/main" val="1655724972"/>
                        </a:ext>
                      </a:extLst>
                    </a:gridCol>
                    <a:gridCol w="1198606">
                      <a:extLst>
                        <a:ext uri="{9D8B030D-6E8A-4147-A177-3AD203B41FA5}">
                          <a16:colId xmlns:a16="http://schemas.microsoft.com/office/drawing/2014/main" val="3828979588"/>
                        </a:ext>
                      </a:extLst>
                    </a:gridCol>
                  </a:tblGrid>
                  <a:tr h="805025"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5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4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6303310"/>
                      </a:ext>
                    </a:extLst>
                  </a:tr>
                  <a:tr h="7664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sz="240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</a:rPr>
                            <a:t>基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CN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1867886"/>
                      </a:ext>
                    </a:extLst>
                  </a:tr>
                  <a:tr h="133192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5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-1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16950475"/>
                      </a:ext>
                    </a:extLst>
                  </a:tr>
                  <a:tr h="7518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-1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4277851"/>
                      </a:ext>
                    </a:extLst>
                  </a:tr>
                  <a:tr h="1331929"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N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838902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321B4CD-925D-AAC7-A4A3-3AAA02852B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5594034"/>
                  </p:ext>
                </p:extLst>
              </p:nvPr>
            </p:nvGraphicFramePr>
            <p:xfrm>
              <a:off x="1301576" y="935415"/>
              <a:ext cx="9588848" cy="498716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198606">
                      <a:extLst>
                        <a:ext uri="{9D8B030D-6E8A-4147-A177-3AD203B41FA5}">
                          <a16:colId xmlns:a16="http://schemas.microsoft.com/office/drawing/2014/main" val="3108103965"/>
                        </a:ext>
                      </a:extLst>
                    </a:gridCol>
                    <a:gridCol w="1198606">
                      <a:extLst>
                        <a:ext uri="{9D8B030D-6E8A-4147-A177-3AD203B41FA5}">
                          <a16:colId xmlns:a16="http://schemas.microsoft.com/office/drawing/2014/main" val="2233348874"/>
                        </a:ext>
                      </a:extLst>
                    </a:gridCol>
                    <a:gridCol w="1198606">
                      <a:extLst>
                        <a:ext uri="{9D8B030D-6E8A-4147-A177-3AD203B41FA5}">
                          <a16:colId xmlns:a16="http://schemas.microsoft.com/office/drawing/2014/main" val="1734540095"/>
                        </a:ext>
                      </a:extLst>
                    </a:gridCol>
                    <a:gridCol w="1198606">
                      <a:extLst>
                        <a:ext uri="{9D8B030D-6E8A-4147-A177-3AD203B41FA5}">
                          <a16:colId xmlns:a16="http://schemas.microsoft.com/office/drawing/2014/main" val="307828392"/>
                        </a:ext>
                      </a:extLst>
                    </a:gridCol>
                    <a:gridCol w="1198606">
                      <a:extLst>
                        <a:ext uri="{9D8B030D-6E8A-4147-A177-3AD203B41FA5}">
                          <a16:colId xmlns:a16="http://schemas.microsoft.com/office/drawing/2014/main" val="2506054662"/>
                        </a:ext>
                      </a:extLst>
                    </a:gridCol>
                    <a:gridCol w="1198606">
                      <a:extLst>
                        <a:ext uri="{9D8B030D-6E8A-4147-A177-3AD203B41FA5}">
                          <a16:colId xmlns:a16="http://schemas.microsoft.com/office/drawing/2014/main" val="2605173381"/>
                        </a:ext>
                      </a:extLst>
                    </a:gridCol>
                    <a:gridCol w="1198606">
                      <a:extLst>
                        <a:ext uri="{9D8B030D-6E8A-4147-A177-3AD203B41FA5}">
                          <a16:colId xmlns:a16="http://schemas.microsoft.com/office/drawing/2014/main" val="1655724972"/>
                        </a:ext>
                      </a:extLst>
                    </a:gridCol>
                    <a:gridCol w="1198606">
                      <a:extLst>
                        <a:ext uri="{9D8B030D-6E8A-4147-A177-3AD203B41FA5}">
                          <a16:colId xmlns:a16="http://schemas.microsoft.com/office/drawing/2014/main" val="3828979588"/>
                        </a:ext>
                      </a:extLst>
                    </a:gridCol>
                  </a:tblGrid>
                  <a:tr h="805025">
                    <a:tc gridSpan="3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2" t="-1563" r="-166549" b="-51718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5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4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6303310"/>
                      </a:ext>
                    </a:extLst>
                  </a:tr>
                  <a:tr h="766440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53" t="-108333" r="-696842" b="-45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sz="240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</a:rPr>
                            <a:t>基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8333" r="-497895" b="-45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191" t="-108333" r="-403191" b="-45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8947" t="-108333" r="-298947" b="-45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255" t="-108333" r="-202128" b="-45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895" t="-108333" r="-100000" b="-45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5319" t="-108333" r="-1064" b="-45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1867886"/>
                      </a:ext>
                    </a:extLst>
                  </a:tr>
                  <a:tr h="133192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5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128" t="-119048" r="-604255" b="-15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19048" r="-497895" b="-15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255" t="-119048" r="-202128" b="-15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-1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5319" t="-119048" r="-1064" b="-158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6950475"/>
                      </a:ext>
                    </a:extLst>
                  </a:tr>
                  <a:tr h="7518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128" t="-383333" r="-604255" b="-17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2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-1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4277851"/>
                      </a:ext>
                    </a:extLst>
                  </a:tr>
                  <a:tr h="1331929">
                    <a:tc gridSpan="3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2" t="-276190" r="-166549" b="-95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0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255" t="-276190" r="-202128" b="-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400">
                              <a:effectLst/>
                              <a:latin typeface="SimSun" panose="02010600030101010101" pitchFamily="2" charset="-122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en-CN" sz="2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5319" t="-276190" r="-1064" b="-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38902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225227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DACC44-4F16-1A67-9D43-89C4343323B9}"/>
                  </a:ext>
                </a:extLst>
              </p:cNvPr>
              <p:cNvSpPr txBox="1"/>
              <p:nvPr/>
            </p:nvSpPr>
            <p:spPr>
              <a:xfrm>
                <a:off x="794951" y="658138"/>
                <a:ext cx="10602097" cy="4243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由于表中的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acc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𝑏</m:t>
                        </m:r>
                      </m:e>
                    </m:acc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≥0</m:t>
                    </m:r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，检验数向量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𝜎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≥0</m:t>
                    </m:r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，故当前的对偶可行的基本解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(</m:t>
                        </m:r>
                        <m:f>
                          <m:f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num>
                          <m:den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3</m:t>
                            </m:r>
                          </m:den>
                        </m:f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,2,0,0,0)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为最优解，最优基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𝐵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i="1" smtClean="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i="1" smtClean="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。而根据最终单纯形表可以看到，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(</m:t>
                        </m:r>
                        <m:sSup>
                          <m:sSup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𝐵</m:t>
                            </m:r>
                          </m:e>
                          <m:sup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∗</m:t>
                            </m:r>
                          </m:sup>
                        </m:s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=−</m:t>
                    </m:r>
                    <m:d>
                      <m:dPr>
                        <m:ctrlPr>
                          <a:rPr lang="en-US" altLang="zh-CN" sz="2400" i="1" smtClean="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−1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，故对偶问题的最优解</a:t>
                </a:r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∗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𝑐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∗</m:t>
                                  </m:r>
                                </m:sup>
                              </m:sSup>
                            </m:sub>
                          </m:sSub>
                          <m:sSup>
                            <m:sSup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5,2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CN" altLang="zh-CN" sz="2400" i="1"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en-CN" altLang="zh-CN" sz="2400" i="1">
                                                <a:latin typeface="Cambria Math" panose="02040503050406030204" pitchFamily="18" charset="0"/>
                                                <a:ea typeface="SimSun" panose="02010600030101010101" pitchFamily="2" charset="-122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SimSun" panose="02010600030101010101" pitchFamily="2" charset="-122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SimSun" panose="02010600030101010101" pitchFamily="2" charset="-122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2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(1,</m:t>
                          </m:r>
                          <m:f>
                            <m:f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DACC44-4F16-1A67-9D43-89C434332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951" y="658138"/>
                <a:ext cx="10602097" cy="4243149"/>
              </a:xfrm>
              <a:prstGeom prst="rect">
                <a:avLst/>
              </a:prstGeom>
              <a:blipFill>
                <a:blip r:embed="rId2"/>
                <a:stretch>
                  <a:fillRect l="-8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54630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C081C8-101D-03F9-8A42-5773686E069D}"/>
                  </a:ext>
                </a:extLst>
              </p:cNvPr>
              <p:cNvSpPr txBox="1"/>
              <p:nvPr/>
            </p:nvSpPr>
            <p:spPr>
              <a:xfrm>
                <a:off x="679938" y="490506"/>
                <a:ext cx="11031416" cy="1135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8400">
                  <a:lnSpc>
                    <a:spcPct val="150000"/>
                  </a:lnSpc>
                </a:pP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给定线性规划（</a:t>
                </a:r>
                <a:r>
                  <a:rPr lang="en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LP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）的一个基</a:t>
                </a:r>
                <a14:m>
                  <m:oMath xmlns:m="http://schemas.openxmlformats.org/officeDocument/2006/math"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，我们称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p>
                      <m:sSupPr>
                        <m:ctrlPr>
                          <a:rPr lang="en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是（</a:t>
                </a:r>
                <a:r>
                  <a:rPr lang="en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LP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）关于基</a:t>
                </a:r>
                <a14:m>
                  <m:oMath xmlns:m="http://schemas.openxmlformats.org/officeDocument/2006/math"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的一个</a:t>
                </a:r>
                <a:r>
                  <a:rPr lang="zh-CN" sz="2400" b="1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单纯形乘子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。根据上述定理</a:t>
                </a:r>
                <a:r>
                  <a:rPr lang="en-US" alt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3-</a:t>
                </a:r>
                <a:r>
                  <a:rPr lang="en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3</a:t>
                </a: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的证明过程，可得到如下单纯形乘子定理</a:t>
                </a:r>
                <a:r>
                  <a:rPr lang="zh-CN" altLang="en-US" sz="2400" dirty="0">
                    <a:latin typeface="SimSong" panose="02020300000000000000" pitchFamily="18" charset="-122"/>
                    <a:ea typeface="SimSong" panose="02020300000000000000" pitchFamily="18" charset="-122"/>
                  </a:rPr>
                  <a:t>。</a:t>
                </a:r>
                <a:endParaRPr lang="en-CN" sz="2400" dirty="0">
                  <a:latin typeface="SimSong" panose="02020300000000000000" pitchFamily="18" charset="-122"/>
                  <a:ea typeface="SimSong" panose="02020300000000000000" pitchFamily="18" charset="-122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C081C8-101D-03F9-8A42-5773686E0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38" y="490506"/>
                <a:ext cx="11031416" cy="1135054"/>
              </a:xfrm>
              <a:prstGeom prst="rect">
                <a:avLst/>
              </a:prstGeom>
              <a:blipFill>
                <a:blip r:embed="rId2"/>
                <a:stretch>
                  <a:fillRect l="-884" r="-663" b="-11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FFCF40-5F7B-8E4E-25B6-05B4385598B5}"/>
                  </a:ext>
                </a:extLst>
              </p:cNvPr>
              <p:cNvSpPr txBox="1"/>
              <p:nvPr/>
            </p:nvSpPr>
            <p:spPr>
              <a:xfrm>
                <a:off x="679938" y="2253944"/>
                <a:ext cx="11031416" cy="40652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+mn-ea"/>
                  </a:rPr>
                  <a:t>定理</a:t>
                </a:r>
                <a:r>
                  <a:rPr lang="en-US" altLang="zh-CN" sz="2400" b="1" dirty="0">
                    <a:effectLst/>
                    <a:latin typeface="+mn-ea"/>
                  </a:rPr>
                  <a:t>3-</a:t>
                </a:r>
                <a:r>
                  <a:rPr lang="en-CN" sz="2400" b="1" dirty="0">
                    <a:effectLst/>
                    <a:latin typeface="+mn-ea"/>
                  </a:rPr>
                  <a:t>4</a:t>
                </a:r>
                <a:r>
                  <a:rPr lang="zh-CN" sz="2400" b="1" dirty="0">
                    <a:effectLst/>
                    <a:latin typeface="+mn-ea"/>
                  </a:rPr>
                  <a:t>（单纯形乘子定理）</a:t>
                </a:r>
                <a:r>
                  <a:rPr lang="zh-CN" sz="2400" dirty="0">
                    <a:effectLst/>
                    <a:latin typeface="+mn-ea"/>
                  </a:rPr>
                  <a:t> 假设（</a:t>
                </a:r>
                <a:r>
                  <a:rPr lang="en-CN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）有一个对应于基</a:t>
                </a:r>
                <a14:m>
                  <m:oMath xmlns:m="http://schemas.openxmlformats.org/officeDocument/2006/math"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sz="2400" dirty="0">
                    <a:effectLst/>
                    <a:latin typeface="+mn-ea"/>
                  </a:rPr>
                  <a:t>的最优基本可行解，则此时的单纯形乘子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p>
                      <m:sSupPr>
                        <m:ctrlPr>
                          <a:rPr lang="en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latin typeface="+mn-ea"/>
                  </a:rPr>
                  <a:t>是相应于对偶问题（</a:t>
                </a:r>
                <a:r>
                  <a:rPr lang="en-CN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）的一个最优解。</a:t>
                </a:r>
                <a:endParaRPr lang="en-CN" sz="2400" dirty="0">
                  <a:effectLst/>
                  <a:latin typeface="+mn-ea"/>
                </a:endParaRPr>
              </a:p>
              <a:p>
                <a:pPr indent="6096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根据此结论，我们可以从原问题的最优单纯形表中直接获得对偶问题的最优解。因为，若在原问题（</a:t>
                </a:r>
                <a:r>
                  <a:rPr lang="en-CN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）的系数矩阵</a:t>
                </a:r>
                <a14:m>
                  <m:oMath xmlns:m="http://schemas.openxmlformats.org/officeDocument/2006/math"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2400" dirty="0">
                    <a:effectLst/>
                    <a:latin typeface="+mn-ea"/>
                  </a:rPr>
                  <a:t>中有一个对应于初始基本可行解的</a:t>
                </a:r>
                <a14:m>
                  <m:oMath xmlns:m="http://schemas.openxmlformats.org/officeDocument/2006/math"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×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sz="2400" dirty="0">
                    <a:effectLst/>
                    <a:latin typeface="+mn-ea"/>
                  </a:rPr>
                  <a:t>阶单位阵，则由初等变换求逆矩阵的方法，</a:t>
                </a:r>
                <a:r>
                  <a:rPr lang="zh-CN" sz="2400" u="sng" dirty="0">
                    <a:solidFill>
                      <a:srgbClr val="FF0000"/>
                    </a:solidFill>
                    <a:effectLst/>
                    <a:latin typeface="+mn-ea"/>
                  </a:rPr>
                  <a:t>在最终单纯形表中与此初始可行基对应位置上的</a:t>
                </a:r>
                <a14:m>
                  <m:oMath xmlns:m="http://schemas.openxmlformats.org/officeDocument/2006/math">
                    <m:r>
                      <a:rPr lang="en-CN" sz="2400" i="1" u="sng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sz="2400" u="sng" dirty="0">
                    <a:solidFill>
                      <a:srgbClr val="FF0000"/>
                    </a:solidFill>
                    <a:effectLst/>
                    <a:latin typeface="+mn-ea"/>
                  </a:rPr>
                  <a:t>个系数列向量即组成最优基的逆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 u="sng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u="sng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400" i="1" u="sng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sz="2400" u="sng" dirty="0">
                    <a:solidFill>
                      <a:srgbClr val="FF0000"/>
                    </a:solidFill>
                    <a:effectLst/>
                    <a:latin typeface="+mn-ea"/>
                  </a:rPr>
                  <a:t>。这样，由</a:t>
                </a:r>
                <a14:m>
                  <m:oMath xmlns:m="http://schemas.openxmlformats.org/officeDocument/2006/math">
                    <m:r>
                      <a:rPr lang="en-US" sz="2400" i="1" u="sng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u="sng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CN" sz="2400" i="1" u="sng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u="sng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 u="sng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p>
                      <m:sSupPr>
                        <m:ctrlPr>
                          <a:rPr lang="en-CN" sz="2400" i="1" u="sng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CN" sz="2400" i="1" u="sng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u="sng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sz="2400" i="1" u="sng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b="0" i="1" u="sng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 u="sng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sz="2400" u="sng" dirty="0">
                    <a:solidFill>
                      <a:srgbClr val="FF0000"/>
                    </a:solidFill>
                    <a:effectLst/>
                    <a:latin typeface="+mn-ea"/>
                  </a:rPr>
                  <a:t>便可求得对偶问题的最优解。</a:t>
                </a:r>
                <a:endParaRPr lang="en-CN" sz="2400" dirty="0">
                  <a:effectLst/>
                  <a:latin typeface="+mn-ea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FFCF40-5F7B-8E4E-25B6-05B438559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38" y="2253944"/>
                <a:ext cx="11031416" cy="4065280"/>
              </a:xfrm>
              <a:prstGeom prst="rect">
                <a:avLst/>
              </a:prstGeom>
              <a:blipFill>
                <a:blip r:embed="rId3"/>
                <a:stretch>
                  <a:fillRect l="-884" r="-829" b="-26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11132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658322-5771-4ADA-E474-1EAEEFAC0B43}"/>
                  </a:ext>
                </a:extLst>
              </p:cNvPr>
              <p:cNvSpPr txBox="1"/>
              <p:nvPr/>
            </p:nvSpPr>
            <p:spPr>
              <a:xfrm>
                <a:off x="271281" y="330055"/>
                <a:ext cx="11383108" cy="59917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+mn-ea"/>
                  </a:rPr>
                  <a:t>定理</a:t>
                </a:r>
                <a:r>
                  <a:rPr lang="en-US" altLang="zh-CN" sz="2400" b="1" dirty="0">
                    <a:effectLst/>
                    <a:latin typeface="+mn-ea"/>
                  </a:rPr>
                  <a:t>3-</a:t>
                </a:r>
                <a:r>
                  <a:rPr lang="en-CN" sz="2400" b="1" dirty="0">
                    <a:effectLst/>
                    <a:latin typeface="+mn-ea"/>
                  </a:rPr>
                  <a:t>5</a:t>
                </a:r>
                <a:r>
                  <a:rPr lang="zh-CN" sz="2400" b="1" dirty="0">
                    <a:effectLst/>
                    <a:latin typeface="+mn-ea"/>
                  </a:rPr>
                  <a:t>（互补松弛定理）</a:t>
                </a:r>
                <a:r>
                  <a:rPr lang="zh-CN" sz="2400" dirty="0">
                    <a:effectLst/>
                    <a:latin typeface="+mn-ea"/>
                  </a:rPr>
                  <a:t> </a:t>
                </a:r>
                <a:r>
                  <a:rPr lang="zh-CN" sz="2400" b="1" dirty="0">
                    <a:effectLst/>
                    <a:latin typeface="+mn-ea"/>
                  </a:rPr>
                  <a:t>设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b="1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b="1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zh-CN" sz="2400" b="1" dirty="0">
                    <a:effectLst/>
                    <a:latin typeface="+mn-ea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zh-CN" sz="2400" b="1" dirty="0">
                    <a:effectLst/>
                    <a:latin typeface="+mn-ea"/>
                  </a:rPr>
                  <a:t>分别是（</a:t>
                </a:r>
                <a:r>
                  <a:rPr lang="en-CN" sz="2400" b="1" dirty="0">
                    <a:effectLst/>
                    <a:latin typeface="+mn-ea"/>
                  </a:rPr>
                  <a:t>LP</a:t>
                </a:r>
                <a:r>
                  <a:rPr lang="zh-CN" sz="2400" b="1" dirty="0">
                    <a:effectLst/>
                    <a:latin typeface="+mn-ea"/>
                  </a:rPr>
                  <a:t>）和（</a:t>
                </a:r>
                <a:r>
                  <a:rPr lang="en-CN" sz="2400" b="1" dirty="0">
                    <a:effectLst/>
                    <a:latin typeface="+mn-ea"/>
                  </a:rPr>
                  <a:t>LD</a:t>
                </a:r>
                <a:r>
                  <a:rPr lang="zh-CN" sz="2400" b="1" dirty="0">
                    <a:effectLst/>
                    <a:latin typeface="+mn-ea"/>
                  </a:rPr>
                  <a:t>）的可行解</a:t>
                </a:r>
                <a:r>
                  <a:rPr lang="zh-CN" sz="2400" dirty="0">
                    <a:effectLst/>
                    <a:latin typeface="+mn-ea"/>
                  </a:rPr>
                  <a:t>，则它们分别是（</a:t>
                </a:r>
                <a:r>
                  <a:rPr lang="en-CN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）和（</a:t>
                </a:r>
                <a:r>
                  <a:rPr lang="en-CN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）的最优解的</a:t>
                </a:r>
                <a:r>
                  <a:rPr lang="zh-CN" sz="2400" b="1" dirty="0">
                    <a:effectLst/>
                    <a:latin typeface="+mn-ea"/>
                  </a:rPr>
                  <a:t>充要条件</a:t>
                </a:r>
                <a:r>
                  <a:rPr lang="zh-CN" sz="2400" dirty="0">
                    <a:effectLst/>
                    <a:latin typeface="+mn-ea"/>
                  </a:rPr>
                  <a:t>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N" sz="2400" i="1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)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sz="2400" dirty="0">
                    <a:effectLst/>
                    <a:latin typeface="+mn-ea"/>
                  </a:rPr>
                  <a:t>。</a:t>
                </a:r>
                <a:endParaRPr lang="en-CN" sz="2400" dirty="0">
                  <a:effectLst/>
                  <a:latin typeface="+mn-ea"/>
                </a:endParaRPr>
              </a:p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+mn-ea"/>
                  </a:rPr>
                  <a:t>证明</a:t>
                </a:r>
                <a:r>
                  <a:rPr lang="zh-CN" sz="2400" dirty="0">
                    <a:effectLst/>
                    <a:latin typeface="+mn-ea"/>
                  </a:rPr>
                  <a:t> </a:t>
                </a:r>
                <a:r>
                  <a:rPr lang="zh-CN" sz="2400" b="1" dirty="0">
                    <a:effectLst/>
                    <a:latin typeface="+mn-ea"/>
                  </a:rPr>
                  <a:t>必要性：</a:t>
                </a:r>
                <a:r>
                  <a:rPr lang="zh-CN" sz="2400" dirty="0">
                    <a:effectLst/>
                    <a:latin typeface="+mn-ea"/>
                  </a:rPr>
                  <a:t>设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分别是各自问题的最优解，则根据强对偶性定理知，</a:t>
                </a:r>
                <a:endParaRPr lang="en-CN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CN" sz="2400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CN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又</a:t>
                </a:r>
                <a14:m>
                  <m:oMath xmlns:m="http://schemas.openxmlformats.org/officeDocument/2006/math"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sz="2400" dirty="0">
                    <a:effectLst/>
                    <a:latin typeface="+mn-ea"/>
                  </a:rPr>
                  <a:t>，便有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CN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N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CN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CN" altLang="zh-CN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CN" altLang="zh-CN" sz="24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N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CN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CN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sz="2400" dirty="0">
                    <a:effectLst/>
                    <a:latin typeface="+mn-ea"/>
                  </a:rPr>
                  <a:t>成立。</a:t>
                </a:r>
                <a:endParaRPr lang="en-CN" sz="2400" dirty="0">
                  <a:effectLst/>
                  <a:latin typeface="+mn-ea"/>
                </a:endParaRPr>
              </a:p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+mn-ea"/>
                  </a:rPr>
                  <a:t>充分性：</a:t>
                </a:r>
                <a:r>
                  <a:rPr lang="zh-CN" sz="2400" dirty="0">
                    <a:effectLst/>
                    <a:latin typeface="+mn-ea"/>
                  </a:rPr>
                  <a:t>因为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CN" sz="2400">
                            <a:effectLst/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分别是（</a:t>
                </a:r>
                <a:r>
                  <a:rPr lang="en-CN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）和（</a:t>
                </a:r>
                <a:r>
                  <a:rPr lang="en-CN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）的可行解且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CN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N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CN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CN" altLang="zh-CN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CN" altLang="zh-CN" sz="24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N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CN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CN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sz="2400" dirty="0">
                    <a:effectLst/>
                    <a:latin typeface="+mn-ea"/>
                  </a:rPr>
                  <a:t>，故知</a:t>
                </a:r>
                <a:r>
                  <a:rPr lang="en-US" sz="2400" dirty="0">
                    <a:effectLst/>
                    <a:latin typeface="+mn-ea"/>
                  </a:rPr>
                  <a:t>,</a:t>
                </a:r>
                <a:endParaRPr lang="en-CN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CN" sz="2400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CN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根据最优性定理，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分别是（</a:t>
                </a:r>
                <a:r>
                  <a:rPr lang="en-CN" sz="2400" dirty="0">
                    <a:effectLst/>
                    <a:latin typeface="+mn-ea"/>
                  </a:rPr>
                  <a:t>LP</a:t>
                </a:r>
                <a:r>
                  <a:rPr lang="zh-CN" sz="2400" dirty="0">
                    <a:effectLst/>
                    <a:latin typeface="+mn-ea"/>
                  </a:rPr>
                  <a:t>）和（</a:t>
                </a:r>
                <a:r>
                  <a:rPr lang="en-CN" sz="2400" dirty="0">
                    <a:effectLst/>
                    <a:latin typeface="+mn-ea"/>
                  </a:rPr>
                  <a:t>LD</a:t>
                </a:r>
                <a:r>
                  <a:rPr lang="zh-CN" sz="2400" dirty="0">
                    <a:effectLst/>
                    <a:latin typeface="+mn-ea"/>
                  </a:rPr>
                  <a:t>）的最优解。</a:t>
                </a:r>
                <a:endParaRPr lang="en-CN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+mn-ea"/>
                  </a:rPr>
                  <a:t>证毕</a:t>
                </a:r>
                <a:r>
                  <a:rPr lang="zh-CN" sz="2400" dirty="0">
                    <a:effectLst/>
                    <a:latin typeface="+mn-ea"/>
                  </a:rPr>
                  <a:t>。</a:t>
                </a:r>
                <a:endParaRPr lang="en-CN" sz="2400" dirty="0">
                  <a:effectLst/>
                  <a:latin typeface="+mn-ea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658322-5771-4ADA-E474-1EAEEFAC0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81" y="330055"/>
                <a:ext cx="11383108" cy="5991768"/>
              </a:xfrm>
              <a:prstGeom prst="rect">
                <a:avLst/>
              </a:prstGeom>
              <a:blipFill>
                <a:blip r:embed="rId2"/>
                <a:stretch>
                  <a:fillRect l="-857" r="-803" b="-7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49B24892-AA29-12A1-F10B-4F9143250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189" y="5626462"/>
            <a:ext cx="6948811" cy="123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3260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0D6C5A0-D495-4AB8-A7B4-5D91C08A10AC}"/>
              </a:ext>
            </a:extLst>
          </p:cNvPr>
          <p:cNvSpPr txBox="1"/>
          <p:nvPr/>
        </p:nvSpPr>
        <p:spPr>
          <a:xfrm>
            <a:off x="858105" y="322384"/>
            <a:ext cx="2250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原问题（</a:t>
            </a:r>
            <a:r>
              <a:rPr lang="en-US" altLang="zh-CN" sz="2400" dirty="0">
                <a:latin typeface="SimSong" panose="02020300000000000000" pitchFamily="18" charset="-122"/>
                <a:ea typeface="SimSong" panose="02020300000000000000" pitchFamily="18" charset="-122"/>
              </a:rPr>
              <a:t>P</a:t>
            </a:r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）：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149E296-0FDB-404A-BB4F-330B43F47DED}"/>
              </a:ext>
            </a:extLst>
          </p:cNvPr>
          <p:cNvSpPr txBox="1"/>
          <p:nvPr/>
        </p:nvSpPr>
        <p:spPr>
          <a:xfrm>
            <a:off x="5630342" y="322383"/>
            <a:ext cx="2591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对偶问题（</a:t>
            </a:r>
            <a:r>
              <a:rPr lang="en-US" altLang="zh-CN" sz="2400" dirty="0">
                <a:latin typeface="SimSong" panose="02020300000000000000" pitchFamily="18" charset="-122"/>
                <a:ea typeface="SimSong" panose="02020300000000000000" pitchFamily="18" charset="-122"/>
              </a:rPr>
              <a:t>D</a:t>
            </a:r>
            <a:r>
              <a:rPr lang="zh-CN" altLang="en-US" sz="2400" dirty="0">
                <a:latin typeface="SimSong" panose="02020300000000000000" pitchFamily="18" charset="-122"/>
                <a:ea typeface="SimSong" panose="02020300000000000000" pitchFamily="18" charset="-122"/>
              </a:rPr>
              <a:t>）：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B05717-34A9-0B20-FA30-51D6857ABE0B}"/>
                  </a:ext>
                </a:extLst>
              </p:cNvPr>
              <p:cNvSpPr txBox="1"/>
              <p:nvPr/>
            </p:nvSpPr>
            <p:spPr>
              <a:xfrm>
                <a:off x="556094" y="1935755"/>
                <a:ext cx="11422246" cy="4922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+mn-ea"/>
                  </a:rPr>
                  <a:t>推论</a:t>
                </a:r>
                <a:r>
                  <a:rPr lang="en-CN" sz="2400" dirty="0">
                    <a:effectLst/>
                    <a:latin typeface="+mn-ea"/>
                  </a:rPr>
                  <a:t>  </a:t>
                </a:r>
                <a:r>
                  <a:rPr lang="zh-CN" sz="2400" dirty="0">
                    <a:effectLst/>
                    <a:latin typeface="+mn-ea"/>
                  </a:rPr>
                  <a:t>设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分别是对称形式的原问题</a:t>
                </a:r>
                <a:r>
                  <a:rPr lang="en-CN" sz="2400" dirty="0">
                    <a:effectLst/>
                    <a:latin typeface="+mn-ea"/>
                  </a:rPr>
                  <a:t>(</a:t>
                </a:r>
                <a:r>
                  <a:rPr lang="en-US" sz="2400" dirty="0">
                    <a:effectLst/>
                    <a:latin typeface="+mn-ea"/>
                  </a:rPr>
                  <a:t>P</a:t>
                </a:r>
                <a:r>
                  <a:rPr lang="en-CN" sz="2400" dirty="0">
                    <a:effectLst/>
                    <a:latin typeface="+mn-ea"/>
                  </a:rPr>
                  <a:t>)</a:t>
                </a:r>
                <a:r>
                  <a:rPr lang="zh-CN" sz="2400" dirty="0">
                    <a:effectLst/>
                    <a:latin typeface="+mn-ea"/>
                  </a:rPr>
                  <a:t>及其对偶问题</a:t>
                </a:r>
                <a:r>
                  <a:rPr lang="en-CN" sz="2400" dirty="0">
                    <a:effectLst/>
                    <a:latin typeface="+mn-ea"/>
                  </a:rPr>
                  <a:t>(</a:t>
                </a:r>
                <a:r>
                  <a:rPr lang="en-US" sz="2400" dirty="0">
                    <a:effectLst/>
                    <a:latin typeface="+mn-ea"/>
                  </a:rPr>
                  <a:t>D</a:t>
                </a:r>
                <a:r>
                  <a:rPr lang="en-CN" sz="2400" dirty="0">
                    <a:effectLst/>
                    <a:latin typeface="+mn-ea"/>
                  </a:rPr>
                  <a:t>)</a:t>
                </a:r>
                <a:r>
                  <a:rPr lang="zh-CN" sz="2400" dirty="0">
                    <a:effectLst/>
                    <a:latin typeface="+mn-ea"/>
                  </a:rPr>
                  <a:t>的可行解，则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sz="2400" dirty="0">
                    <a:effectLst/>
                    <a:latin typeface="+mn-ea"/>
                  </a:rPr>
                  <a:t>分别是各自问题最优解的充要条件为：</a:t>
                </a:r>
                <a:endParaRPr lang="en-CN" sz="2400" dirty="0">
                  <a:effectLst/>
                  <a:latin typeface="+mn-ea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acc>
                                <m:accPr>
                                  <m:chr m:val="̅"/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acc>
                                <m:accPr>
                                  <m:chr m:val="̅"/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effectLst/>
                  <a:latin typeface="+mn-ea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或</a:t>
                </a:r>
                <a:endParaRPr lang="en-CN" sz="2400" dirty="0">
                  <a:effectLst/>
                  <a:latin typeface="+mn-ea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CN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CN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CN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CN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CN" sz="2400" i="1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CN" sz="2400" i="1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CN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</a:rPr>
                                <m:t>=0,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</a:rPr>
                                <m:t>=1,2,⋯,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CN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CN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CN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CN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CN" sz="2400" i="1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CN" sz="2400" i="1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CN" sz="2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</a:rPr>
                                <m:t>=0,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</a:rPr>
                                <m:t>=1,2,⋯,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effectLst/>
                  <a:latin typeface="+mn-ea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B05717-34A9-0B20-FA30-51D6857AB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094" y="1935755"/>
                <a:ext cx="11422246" cy="4922245"/>
              </a:xfrm>
              <a:prstGeom prst="rect">
                <a:avLst/>
              </a:prstGeom>
              <a:blipFill>
                <a:blip r:embed="rId2"/>
                <a:stretch>
                  <a:fillRect l="-800" t="-1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372F24-CB6F-C333-1EF0-FDBBFBE106A3}"/>
                  </a:ext>
                </a:extLst>
              </p:cNvPr>
              <p:cNvSpPr txBox="1"/>
              <p:nvPr/>
            </p:nvSpPr>
            <p:spPr>
              <a:xfrm>
                <a:off x="1084223" y="263052"/>
                <a:ext cx="6160476" cy="1439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min</m:t>
                          </m:r>
                        </m:fName>
                        <m:e>
                          <m:r>
                            <a:rPr lang="en-CN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𝑧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=</m:t>
                          </m:r>
                          <m:sSup>
                            <m:sSup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𝑇</m:t>
                              </m:r>
                            </m:sup>
                          </m:sSup>
                          <m:r>
                            <a:rPr lang="en-CN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CN" altLang="zh-CN" sz="2400" dirty="0"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b="0" i="1" dirty="0">
                  <a:effectLst/>
                  <a:latin typeface="Cambria Math" panose="02040503050406030204" pitchFamily="18" charset="0"/>
                  <a:ea typeface="SimSun" panose="02010600030101010101" pitchFamily="2" charset="-122"/>
                </a:endParaRPr>
              </a:p>
              <a:p>
                <a:pPr indent="2667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𝑠</m:t>
                      </m:r>
                      <m:r>
                        <a:rPr lang="en-CN" sz="24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r>
                        <a:rPr lang="en-CN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𝑡</m:t>
                      </m:r>
                      <m:r>
                        <a:rPr lang="en-CN" sz="24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CN" sz="24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&amp;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𝐴𝑥</m:t>
                              </m:r>
                              <m:r>
                                <a:rPr lang="en-CN" sz="24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CN" sz="24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&amp;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𝑥</m:t>
                              </m:r>
                              <m:r>
                                <a:rPr lang="en-CN" sz="24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372F24-CB6F-C333-1EF0-FDBBFBE10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223" y="263052"/>
                <a:ext cx="6160476" cy="14393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AB0045-C59E-3304-515E-B7F25839369A}"/>
                  </a:ext>
                </a:extLst>
              </p:cNvPr>
              <p:cNvSpPr txBox="1"/>
              <p:nvPr/>
            </p:nvSpPr>
            <p:spPr>
              <a:xfrm>
                <a:off x="6267217" y="263052"/>
                <a:ext cx="6160476" cy="1285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CN" altLang="zh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CN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N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en-C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CN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CN" sz="2400" i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AB0045-C59E-3304-515E-B7F258393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217" y="263052"/>
                <a:ext cx="6160476" cy="12854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462A73F-4602-F8B7-8ADE-026FCA2EB87B}"/>
              </a:ext>
            </a:extLst>
          </p:cNvPr>
          <p:cNvCxnSpPr/>
          <p:nvPr/>
        </p:nvCxnSpPr>
        <p:spPr>
          <a:xfrm>
            <a:off x="292963" y="1702420"/>
            <a:ext cx="1154984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6806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B781BD5-4428-436F-8A2E-6A24DC02E667}"/>
              </a:ext>
            </a:extLst>
          </p:cNvPr>
          <p:cNvSpPr txBox="1"/>
          <p:nvPr/>
        </p:nvSpPr>
        <p:spPr>
          <a:xfrm>
            <a:off x="856302" y="664392"/>
            <a:ext cx="70093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00" dirty="0">
                <a:latin typeface="SimSong" panose="02020300000000000000" pitchFamily="18" charset="-122"/>
                <a:ea typeface="SimSong" panose="02020300000000000000" pitchFamily="18" charset="-122"/>
                <a:cs typeface="Times New Roman" panose="02020603050405020304" pitchFamily="18" charset="0"/>
              </a:rPr>
              <a:t>证明</a:t>
            </a:r>
            <a:r>
              <a:rPr lang="zh-CN" altLang="zh-CN" sz="2400" kern="100" dirty="0">
                <a:latin typeface="SimSong" panose="02020300000000000000" pitchFamily="18" charset="-122"/>
                <a:ea typeface="SimSong" panose="02020300000000000000" pitchFamily="18" charset="-122"/>
                <a:cs typeface="Times New Roman" panose="02020603050405020304" pitchFamily="18" charset="0"/>
              </a:rPr>
              <a:t>：原问题</a:t>
            </a:r>
            <a:r>
              <a:rPr lang="en-US" altLang="zh-CN" sz="2400" kern="100" dirty="0">
                <a:latin typeface="SimSong" panose="02020300000000000000" pitchFamily="18" charset="-122"/>
                <a:ea typeface="SimSong" panose="02020300000000000000" pitchFamily="18" charset="-122"/>
                <a:cs typeface="Times New Roman" panose="02020603050405020304" pitchFamily="18" charset="0"/>
              </a:rPr>
              <a:t>(P)                            </a:t>
            </a:r>
            <a:r>
              <a:rPr lang="zh-CN" altLang="zh-CN" sz="2400" kern="100" dirty="0">
                <a:latin typeface="SimSong" panose="02020300000000000000" pitchFamily="18" charset="-122"/>
                <a:ea typeface="SimSong" panose="02020300000000000000" pitchFamily="18" charset="-122"/>
                <a:cs typeface="Times New Roman" panose="02020603050405020304" pitchFamily="18" charset="0"/>
              </a:rPr>
              <a:t>等价于</a:t>
            </a:r>
            <a:endParaRPr lang="en-US" altLang="zh-CN" sz="2400" kern="100" dirty="0">
              <a:latin typeface="SimSong" panose="02020300000000000000" pitchFamily="18" charset="-122"/>
              <a:ea typeface="SimSong" panose="02020300000000000000" pitchFamily="18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628DA1-02BC-7CCE-5C2E-DB363F42FACD}"/>
                  </a:ext>
                </a:extLst>
              </p:cNvPr>
              <p:cNvSpPr txBox="1"/>
              <p:nvPr/>
            </p:nvSpPr>
            <p:spPr>
              <a:xfrm>
                <a:off x="0" y="1989632"/>
                <a:ext cx="6096000" cy="1439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min</m:t>
                          </m:r>
                        </m:fName>
                        <m:e>
                          <m:r>
                            <a:rPr lang="en-CN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𝑧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=</m:t>
                          </m:r>
                          <m:sSup>
                            <m:sSup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𝑇</m:t>
                              </m:r>
                            </m:sup>
                          </m:sSup>
                          <m:r>
                            <a:rPr lang="en-CN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CN" altLang="zh-CN" sz="2400" dirty="0"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b="0" i="1" dirty="0">
                  <a:effectLst/>
                  <a:latin typeface="Cambria Math" panose="02040503050406030204" pitchFamily="18" charset="0"/>
                  <a:ea typeface="SimSun" panose="02010600030101010101" pitchFamily="2" charset="-122"/>
                </a:endParaRPr>
              </a:p>
              <a:p>
                <a:pPr indent="2667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𝑠</m:t>
                      </m:r>
                      <m:r>
                        <a:rPr lang="en-CN" sz="24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r>
                        <a:rPr lang="en-CN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𝑡</m:t>
                      </m:r>
                      <m:r>
                        <a:rPr lang="en-CN" sz="24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CN" sz="24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&amp;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𝐴𝑥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𝑠</m:t>
                              </m:r>
                              <m:r>
                                <a:rPr lang="en-CN" sz="24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=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CN" sz="24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&amp;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𝑥</m:t>
                              </m:r>
                              <m:r>
                                <a:rPr lang="en-CN" sz="24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≥0,</m:t>
                              </m:r>
                              <m:r>
                                <m:rPr>
                                  <m:sty m:val="p"/>
                                </m:rPr>
                                <a:rPr lang="en-CN" sz="24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s</m:t>
                              </m:r>
                              <m:r>
                                <a:rPr lang="en-CN" sz="24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628DA1-02BC-7CCE-5C2E-DB363F42F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89632"/>
                <a:ext cx="6096000" cy="14393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2F182D-8F88-C708-0C37-3D2B28062852}"/>
                  </a:ext>
                </a:extLst>
              </p:cNvPr>
              <p:cNvSpPr txBox="1"/>
              <p:nvPr/>
            </p:nvSpPr>
            <p:spPr>
              <a:xfrm>
                <a:off x="5689649" y="1619146"/>
                <a:ext cx="6096000" cy="21803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SimSong" panose="02020300000000000000" pitchFamily="18" charset="-122"/>
                    <a:ea typeface="SimSong" panose="02020300000000000000" pitchFamily="18" charset="-122"/>
                  </a:rPr>
                  <a:t>即</a:t>
                </a:r>
                <a:r>
                  <a:rPr lang="en-CN" altLang="zh-CN" sz="2400" dirty="0">
                    <a:latin typeface="SimSong" panose="02020300000000000000" pitchFamily="18" charset="-122"/>
                    <a:ea typeface="SimSong" panose="02020300000000000000" pitchFamily="18" charset="-122"/>
                  </a:rPr>
                  <a:t>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N" sz="2400" i="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min</m:t>
                        </m:r>
                      </m:fName>
                      <m:e>
                        <m:r>
                          <a:rPr lang="en-CN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𝑧</m:t>
                        </m:r>
                        <m:r>
                          <a:rPr lang="en-CN" altLang="zh-CN" sz="240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=</m:t>
                        </m:r>
                        <m:sSup>
                          <m:sSupPr>
                            <m:ctrlP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(</m:t>
                            </m:r>
                            <m: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𝑐</m:t>
                            </m:r>
                          </m:e>
                          <m:sup>
                            <m: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𝑇</m:t>
                            </m:r>
                          </m:sup>
                        </m:sSup>
                        <m:r>
                          <a:rPr lang="en-CN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,</m:t>
                        </m:r>
                        <m:sSup>
                          <m:sSupPr>
                            <m:ctrlP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0</m:t>
                            </m:r>
                          </m:e>
                          <m:sup>
                            <m: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𝑇</m:t>
                            </m:r>
                          </m:sup>
                        </m:sSup>
                        <m:r>
                          <a:rPr lang="en-CN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)</m:t>
                        </m:r>
                        <m:d>
                          <m:dPr>
                            <m:ctrlP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𝑠</m:t>
                                  </m:r>
                                </m:e>
                              </m:mr>
                            </m:m>
                          </m:e>
                        </m:d>
                      </m:e>
                    </m:func>
                  </m:oMath>
                </a14:m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CN" sz="240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CN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CN" sz="240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d>
                      <m:dPr>
                        <m:begChr m:val="{"/>
                        <m:endChr m:val="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eqArrPr>
                          <m:e>
                            <m:r>
                              <a:rPr lang="en-CN" sz="240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&amp;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e>
                                    <m:e>
                                      <m: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𝐼</m:t>
                                      </m:r>
                                    </m:e>
                                  </m:mr>
                                </m:m>
                              </m:e>
                            </m:d>
                            <m:d>
                              <m:d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𝑠</m:t>
                                      </m:r>
                                    </m:e>
                                  </m:mr>
                                </m:m>
                              </m:e>
                            </m:d>
                            <m:r>
                              <a:rPr lang="en-CN" sz="240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e>
                            <m:r>
                              <a:rPr lang="en-CN" sz="240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&amp;</m:t>
                            </m:r>
                            <m:d>
                              <m:d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𝑠</m:t>
                                      </m:r>
                                    </m:e>
                                  </m:mr>
                                </m:m>
                              </m:e>
                            </m:d>
                            <m:r>
                              <a:rPr lang="en-CN" sz="240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≥0</m:t>
                            </m:r>
                          </m:e>
                        </m:eqAr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     </m:t>
                        </m:r>
                        <m: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(∗)</m:t>
                        </m:r>
                      </m:e>
                    </m:d>
                  </m:oMath>
                </a14:m>
                <a:r>
                  <a:rPr lang="en-CN" sz="2400" dirty="0">
                    <a:effectLst/>
                  </a:rPr>
                  <a:t> </a:t>
                </a:r>
                <a:endParaRPr lang="en-CN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2F182D-8F88-C708-0C37-3D2B28062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649" y="1619146"/>
                <a:ext cx="6096000" cy="21803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4">
                <a:extLst>
                  <a:ext uri="{FF2B5EF4-FFF2-40B4-BE49-F238E27FC236}">
                    <a16:creationId xmlns:a16="http://schemas.microsoft.com/office/drawing/2014/main" id="{FD7AB6E6-C7F9-FE7A-A172-111C930CFFF0}"/>
                  </a:ext>
                </a:extLst>
              </p:cNvPr>
              <p:cNvSpPr txBox="1"/>
              <p:nvPr/>
            </p:nvSpPr>
            <p:spPr>
              <a:xfrm>
                <a:off x="1554739" y="309109"/>
                <a:ext cx="6160476" cy="1439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min</m:t>
                          </m:r>
                        </m:fName>
                        <m:e>
                          <m:r>
                            <a:rPr lang="en-CN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𝑧</m:t>
                          </m:r>
                          <m:r>
                            <a:rPr lang="en-CN" altLang="zh-CN" sz="2400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=</m:t>
                          </m:r>
                          <m:sSup>
                            <m:sSup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𝑇</m:t>
                              </m:r>
                            </m:sup>
                          </m:sSup>
                          <m:r>
                            <a:rPr lang="en-CN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CN" altLang="zh-CN" sz="2400" dirty="0"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b="0" i="1" dirty="0">
                  <a:effectLst/>
                  <a:latin typeface="Cambria Math" panose="02040503050406030204" pitchFamily="18" charset="0"/>
                  <a:ea typeface="SimSun" panose="02010600030101010101" pitchFamily="2" charset="-122"/>
                </a:endParaRPr>
              </a:p>
              <a:p>
                <a:pPr indent="2667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𝑠</m:t>
                      </m:r>
                      <m:r>
                        <a:rPr lang="en-CN" sz="24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r>
                        <a:rPr lang="en-CN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𝑡</m:t>
                      </m:r>
                      <m:r>
                        <a:rPr lang="en-CN" sz="24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CN" sz="24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&amp;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𝐴𝑥</m:t>
                              </m:r>
                              <m:r>
                                <a:rPr lang="en-CN" sz="24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CN" sz="24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&amp;</m:t>
                              </m:r>
                              <m: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𝑥</m:t>
                              </m:r>
                              <m:r>
                                <a:rPr lang="en-CN" sz="24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4">
                <a:extLst>
                  <a:ext uri="{FF2B5EF4-FFF2-40B4-BE49-F238E27FC236}">
                    <a16:creationId xmlns:a16="http://schemas.microsoft.com/office/drawing/2014/main" id="{FD7AB6E6-C7F9-FE7A-A172-111C930CF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739" y="309109"/>
                <a:ext cx="6160476" cy="14393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AE3C1CB-1F0D-7B24-5C69-AF919578AFEF}"/>
                  </a:ext>
                </a:extLst>
              </p:cNvPr>
              <p:cNvSpPr txBox="1"/>
              <p:nvPr/>
            </p:nvSpPr>
            <p:spPr>
              <a:xfrm>
                <a:off x="1113694" y="4040641"/>
                <a:ext cx="11078306" cy="25402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由互补松弛定理知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分别是</a:t>
                </a: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(*)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和其对偶问题</a:t>
                </a: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(D)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的最优解当且仅当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𝑠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 −</m:t>
                                  </m:r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AE3C1CB-1F0D-7B24-5C69-AF919578A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694" y="4040641"/>
                <a:ext cx="11078306" cy="2540247"/>
              </a:xfrm>
              <a:prstGeom prst="rect">
                <a:avLst/>
              </a:prstGeom>
              <a:blipFill>
                <a:blip r:embed="rId5"/>
                <a:stretch>
                  <a:fillRect l="-8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34983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691224A-A49B-4FD9-9E97-74A22D6A4D5C}"/>
                  </a:ext>
                </a:extLst>
              </p:cNvPr>
              <p:cNvSpPr txBox="1"/>
              <p:nvPr/>
            </p:nvSpPr>
            <p:spPr>
              <a:xfrm>
                <a:off x="867509" y="464246"/>
                <a:ext cx="11078306" cy="5375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由互补松弛定理知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分别是</a:t>
                </a: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(*)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和其对偶问题</a:t>
                </a:r>
                <a:r>
                  <a:rPr lang="en-US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(D)</a:t>
                </a: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的最优解当且仅当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𝑠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 −</m:t>
                                  </m:r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即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注意到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acc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，所以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因为上式中的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kern="100" dirty="0">
                    <a:latin typeface="SimSong" panose="02020300000000000000" pitchFamily="18" charset="-122"/>
                    <a:ea typeface="SimSong" panose="02020300000000000000" pitchFamily="18" charset="-122"/>
                    <a:cs typeface="Times New Roman" panose="02020603050405020304" pitchFamily="18" charset="0"/>
                  </a:rPr>
                  <a:t>均非负，所以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acc>
                                <m:accPr>
                                  <m:chr m:val="̅"/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=(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  <m:acc>
                            <m:accPr>
                              <m:chr m:val="̅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=0. </m:t>
                      </m:r>
                    </m:oMath>
                  </m:oMathPara>
                </a14:m>
                <a:endParaRPr lang="zh-CN" altLang="zh-CN" sz="2400" kern="100" dirty="0">
                  <a:latin typeface="SimSong" panose="02020300000000000000" pitchFamily="18" charset="-122"/>
                  <a:ea typeface="SimSong" panose="02020300000000000000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691224A-A49B-4FD9-9E97-74A22D6A4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509" y="464246"/>
                <a:ext cx="11078306" cy="5375511"/>
              </a:xfrm>
              <a:prstGeom prst="rect">
                <a:avLst/>
              </a:prstGeom>
              <a:blipFill>
                <a:blip r:embed="rId2"/>
                <a:stretch>
                  <a:fillRect l="-8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84542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E2F4D7-C37C-5D51-1617-5B6334AE5CBB}"/>
                  </a:ext>
                </a:extLst>
              </p:cNvPr>
              <p:cNvSpPr txBox="1"/>
              <p:nvPr/>
            </p:nvSpPr>
            <p:spPr>
              <a:xfrm>
                <a:off x="439615" y="951827"/>
                <a:ext cx="11312769" cy="34134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+mn-ea"/>
                  </a:rPr>
                  <a:t>例</a:t>
                </a:r>
                <a:r>
                  <a:rPr lang="en-CN" sz="2400" dirty="0">
                    <a:effectLst/>
                    <a:latin typeface="+mn-ea"/>
                  </a:rPr>
                  <a:t> </a:t>
                </a:r>
                <a:r>
                  <a:rPr lang="zh-CN" sz="2400" dirty="0">
                    <a:effectLst/>
                    <a:latin typeface="+mn-ea"/>
                  </a:rPr>
                  <a:t>给定如下线性规划问题</a:t>
                </a:r>
                <a:endParaRPr lang="en-CN" sz="2400" dirty="0">
                  <a:effectLst/>
                  <a:latin typeface="+mn-ea"/>
                </a:endParaRPr>
              </a:p>
              <a:p>
                <a:pPr indent="60960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>
                              <a:effectLst/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=2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+4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+3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</m:oMath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≤60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≤40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≤80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≥0,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=1,2,3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effectLst/>
                  <a:latin typeface="+mn-ea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+mn-ea"/>
                  </a:rPr>
                  <a:t>试用互补松弛定理证明：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(0,</m:t>
                        </m:r>
                        <m:f>
                          <m:fPr>
                            <m:type m:val="lin"/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3,</m:t>
                            </m:r>
                            <m:f>
                              <m:fPr>
                                <m:type m:val="lin"/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num>
                              <m:den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den>
                        </m:f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latin typeface="+mn-ea"/>
                  </a:rPr>
                  <a:t>为它的最优解。</a:t>
                </a:r>
                <a:endParaRPr lang="en-CN" sz="2400" dirty="0">
                  <a:effectLst/>
                  <a:latin typeface="+mn-ea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E2F4D7-C37C-5D51-1617-5B6334AE5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15" y="951827"/>
                <a:ext cx="11312769" cy="3413435"/>
              </a:xfrm>
              <a:prstGeom prst="rect">
                <a:avLst/>
              </a:prstGeom>
              <a:blipFill>
                <a:blip r:embed="rId2"/>
                <a:stretch>
                  <a:fillRect b="-251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49934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803449-8E37-8065-A9FD-E2E07DD69A0C}"/>
                  </a:ext>
                </a:extLst>
              </p:cNvPr>
              <p:cNvSpPr txBox="1"/>
              <p:nvPr/>
            </p:nvSpPr>
            <p:spPr>
              <a:xfrm>
                <a:off x="192349" y="1746760"/>
                <a:ext cx="11807301" cy="64767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21665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b="1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解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若把给定的线性规划问题看作对偶问题，则其原问题为</a:t>
                </a:r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 algn="just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𝑧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=60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+40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+80</m:t>
                          </m:r>
                          <m:sSub>
                            <m:sSubPr>
                              <m:ctrlP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</m:oMath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𝑡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≥2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≥4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≥3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≥0,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=1,2,3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96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直接验证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可</a:t>
                </a:r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(</m:t>
                        </m:r>
                        <m:sSub>
                          <m:sSub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3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(0,</m:t>
                        </m:r>
                        <m:f>
                          <m:fPr>
                            <m:type m:val="lin"/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20</m:t>
                            </m:r>
                          </m:num>
                          <m:den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3,</m:t>
                            </m:r>
                            <m:f>
                              <m:fPr>
                                <m:type m:val="lin"/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50</m:t>
                                </m:r>
                              </m:num>
                              <m:den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3</m:t>
                                </m:r>
                              </m:den>
                            </m:f>
                          </m:den>
                        </m:f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是对偶问题的一个可行解</a:t>
                </a:r>
                <a:r>
                  <a:rPr lang="zh-CN" altLang="en-US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altLang="zh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CN" altLang="zh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1</m:t>
                            </m:r>
                            <m:r>
                              <a:rPr lang="en-US" altLang="zh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1</m:t>
                            </m:r>
                            <m:r>
                              <a:rPr lang="en-US" altLang="zh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zh-CN" sz="24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为原问题</a:t>
                </a:r>
                <a:r>
                  <a:rPr lang="zh-CN" altLang="zh-CN" sz="2400" dirty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的一个可行解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。由最优性定理知，原问题和对偶问题均有最优解，不妨设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zh-CN" sz="2400" dirty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为原问题的最优解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。如果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(</m:t>
                        </m:r>
                        <m:sSub>
                          <m:sSubPr>
                            <m:ctrlP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en-CN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(0,</m:t>
                        </m:r>
                        <m:f>
                          <m:fPr>
                            <m:type m:val="lin"/>
                            <m:ctrlP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20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3,</m:t>
                            </m:r>
                            <m:f>
                              <m:fPr>
                                <m:type m:val="lin"/>
                                <m:ctrlP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50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3</m:t>
                                </m:r>
                              </m:den>
                            </m:f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zh-CN" sz="2400" dirty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是对偶问题的最优解，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由互补松弛定理知</a:t>
                </a:r>
                <a:endParaRPr lang="en-US" altLang="zh-CN" sz="2400" dirty="0"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indent="6096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US" altLang="zh-CN" sz="24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indent="60960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803449-8E37-8065-A9FD-E2E07DD69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349" y="1746760"/>
                <a:ext cx="11807301" cy="6476709"/>
              </a:xfrm>
              <a:prstGeom prst="rect">
                <a:avLst/>
              </a:prstGeom>
              <a:blipFill>
                <a:blip r:embed="rId2"/>
                <a:stretch>
                  <a:fillRect l="-826" r="-34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0B6E4607-DFC8-D6C9-1EDA-2845E1345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601" y="181115"/>
            <a:ext cx="3229520" cy="175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5713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5266AA-DBC4-5B93-D35F-3ECD38D688B7}"/>
                  </a:ext>
                </a:extLst>
              </p:cNvPr>
              <p:cNvSpPr txBox="1"/>
              <p:nvPr/>
            </p:nvSpPr>
            <p:spPr>
              <a:xfrm>
                <a:off x="596340" y="329754"/>
                <a:ext cx="10679723" cy="52351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9600" algn="just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CN" sz="2400" i="1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=4(</m:t>
                              </m:r>
                              <m:r>
                                <a:rPr lang="zh-CN" sz="24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因为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20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&gt;0)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=3(</m:t>
                              </m:r>
                              <m:r>
                                <a:rPr lang="zh-CN" sz="24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因为</m:t>
                              </m:r>
                              <m:sSub>
                                <m:sSubPr>
                                  <m:ctrlPr>
                                    <a:rPr lang="en-CN" sz="2400" i="1" smtClean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CN" sz="2400" i="1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5</m:t>
                                  </m:r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&gt;0)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=0(</m:t>
                              </m:r>
                              <m:r>
                                <a:rPr lang="zh-CN" sz="24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因为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+3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160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&lt;80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608400" algn="just">
                  <a:lnSpc>
                    <a:spcPct val="120000"/>
                  </a:lnSpc>
                </a:pPr>
                <a:r>
                  <a:rPr lang="zh-CN" sz="2400" dirty="0">
                    <a:effectLst/>
                    <a:ea typeface="SimSun" panose="02010600030101010101" pitchFamily="2" charset="-122"/>
                    <a:cs typeface="Times New Roman" panose="02020603050405020304" pitchFamily="18" charset="0"/>
                  </a:rPr>
                  <a:t>由此方程组可解得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,0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ea typeface="SimSun" panose="02010600030101010101" pitchFamily="2" charset="-122"/>
                    <a:cs typeface="Times New Roman" panose="02020603050405020304" pitchFamily="18" charset="0"/>
                  </a:rPr>
                  <a:t>。直接验证可知它是原问题的一个可行解。现</a:t>
                </a:r>
                <a:r>
                  <a:rPr lang="zh-CN" altLang="en-US" sz="2400" dirty="0">
                    <a:effectLst/>
                    <a:ea typeface="SimSun" panose="02010600030101010101" pitchFamily="2" charset="-122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(0,</m:t>
                        </m:r>
                        <m:f>
                          <m:f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ea typeface="SimSun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CN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CN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,0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sz="2400" dirty="0">
                    <a:effectLst/>
                    <a:ea typeface="SimSun" panose="02010600030101010101" pitchFamily="2" charset="-122"/>
                    <a:cs typeface="Times New Roman" panose="02020603050405020304" pitchFamily="18" charset="0"/>
                  </a:rPr>
                  <a:t>分别是对偶问题和原问题的可行解，</a:t>
                </a:r>
                <a:r>
                  <a:rPr lang="zh-CN" altLang="en-US" sz="2400" dirty="0">
                    <a:effectLst/>
                    <a:ea typeface="SimSun" panose="02010600030101010101" pitchFamily="2" charset="-122"/>
                    <a:cs typeface="Times New Roman" panose="02020603050405020304" pitchFamily="18" charset="0"/>
                  </a:rPr>
                  <a:t>且</a:t>
                </a:r>
                <a:r>
                  <a:rPr lang="zh-CN" sz="2400" dirty="0">
                    <a:effectLst/>
                    <a:ea typeface="SimSun" panose="02010600030101010101" pitchFamily="2" charset="-122"/>
                    <a:cs typeface="Times New Roman" panose="02020603050405020304" pitchFamily="18" charset="0"/>
                  </a:rPr>
                  <a:t>满足互补松弛条件，故分别是对偶问题和原问题的最优解。</a:t>
                </a:r>
                <a:r>
                  <a:rPr lang="en-CN" sz="2400" dirty="0">
                    <a:effectLst/>
                  </a:rPr>
                  <a:t> </a:t>
                </a:r>
                <a:endParaRPr lang="en-CN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5266AA-DBC4-5B93-D35F-3ECD38D68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40" y="329754"/>
                <a:ext cx="10679723" cy="5235151"/>
              </a:xfrm>
              <a:prstGeom prst="rect">
                <a:avLst/>
              </a:prstGeom>
              <a:blipFill>
                <a:blip r:embed="rId2"/>
                <a:stretch>
                  <a:fillRect l="-913" r="-856" b="-1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9745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4511</TotalTime>
  <Words>3978</Words>
  <Application>Microsoft Office PowerPoint</Application>
  <PresentationFormat>宽屏</PresentationFormat>
  <Paragraphs>498</Paragraphs>
  <Slides>46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8" baseType="lpstr">
      <vt:lpstr>SimSong</vt:lpstr>
      <vt:lpstr>等线</vt:lpstr>
      <vt:lpstr>等线</vt:lpstr>
      <vt:lpstr>黑体</vt:lpstr>
      <vt:lpstr>宋体</vt:lpstr>
      <vt:lpstr>宋体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  <vt:lpstr>对偶问题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对偶理论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对偶单纯形法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Zhao Leon</dc:creator>
  <cp:lastModifiedBy>Wei Zhang</cp:lastModifiedBy>
  <cp:revision>141</cp:revision>
  <dcterms:created xsi:type="dcterms:W3CDTF">2020-12-08T13:29:54Z</dcterms:created>
  <dcterms:modified xsi:type="dcterms:W3CDTF">2025-10-12T17:05:57Z</dcterms:modified>
</cp:coreProperties>
</file>